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thai-rail-web-repo.vercel.app" TargetMode="External"/><Relationship Id="rId2" Type="http://schemas.openxmlformats.org/officeDocument/2006/relationships/hyperlink" Target="https://thai-rail-web-repo.vercel.app" TargetMode="External"/><Relationship Id="rId3" Type="http://schemas.openxmlformats.org/officeDocument/2006/relationships/hyperlink" Target="https://swt-mobile.vercel.app" TargetMode="External"/><Relationship Id="rId4" Type="http://schemas.openxmlformats.org/officeDocument/2006/relationships/hyperlink" Target="https://swt-mobile.vercel.app" TargetMode="External"/><Relationship Id="rId5" Type="http://schemas.openxmlformats.org/officeDocument/2006/relationships/hyperlink" Target="https://srt-stats.vercel.app" TargetMode="External"/><Relationship Id="rId6" Type="http://schemas.openxmlformats.org/officeDocument/2006/relationships/hyperlink" Target="https://srt-stats.vercel.app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Pain 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3438144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Traveler Experience Gaps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45720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14447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การเดินทาง ≠ จองตั๋ว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6916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ระบบปัจจุบันเน้น "ธุรกรรม" — ซื้อตั๋วจบ แต่ผู้โดยสารยังต้องการข้อมูลระหว่างทาง ความช่วยเหลือ และวางแผนปลายทาง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17320"/>
            <a:ext cx="45720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20840" y="14447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ขั้นตอนจองซับซ้อน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16916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ต้องกรอกข้อมูลผู้เดินทางก่อน จึงจะทราบว่าที่นั่งว่าง — หากเต็มต้องเริ่มใหม่ทั้งหมด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20840" y="212140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📌 ข้อมูลจากผู้ใช้จริง (Pantip, App Store)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51760"/>
            <a:ext cx="45720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26791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เส้นทางเชื่อมต่อต้องหาเอง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2926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ไม่มีรถไฟตรง ผู้โดยสารต้องค้นหาจุดเปลี่ยนขบวนเองทีละสาย ไม่มีระบบแนะนำเชื่อมต่อผ่าน hub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2606040"/>
            <a:ext cx="5440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51760"/>
            <a:ext cx="45720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715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20840" y="26791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สถานะขบวนรถไม่ทันการณ์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20840" y="29260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รถไฟล่าช้าหลายชั่วโมง แต่แอปยังแสดงเวลาตามตารางเดิม — วางแผนต่อไม่ได้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20840" y="335584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📌 ข้อร้องเรียนที่พบบ่อยที่สุด (App Store Reviews)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886200"/>
            <a:ext cx="45720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051560" y="39136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ทัวร์มีแต่ขาดรายละเอียด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" y="41605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มีทัวร์รถไฟจัดเฉพาะแต่ราคาสูงและไม่แสดงรายละเอียดว่าได้อะไรบ้าง — ยังไม่มีแพ็คเกจท่องเที่ยวตามเส้นทางปกติ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886200"/>
            <a:ext cx="45720" cy="868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39502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720840" y="39136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ผู้บริหารขาด Insights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0840" y="41605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ไม่มี Dashboard แสดง Conversion Funnel, พฤติกรรมผู้ใช้ หรือความพึงพอใจ เพื่อตัดสินใจเชิงนโยบาย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2286000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 Core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45720" cy="5486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42646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Smart Routing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67335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เส้นทางตรง + เชื่อมต่อผ่าน hub อัตโนมัติ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30552"/>
            <a:ext cx="45720" cy="5486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1762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🎫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213969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Availability-First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38658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 "ว่าง/เต็ม" ตั้งแต่ค้นหา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98064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43784"/>
            <a:ext cx="45720" cy="5486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2889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85292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Real-time Status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09981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ตำแหน่งจริง + ความตรงเวลา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511296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57016"/>
            <a:ext cx="45720" cy="5486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" y="35661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Tourism ในแอปเดียว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38130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ทัวร์ตามเส้นทาง พร้อมจอง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224528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270248"/>
            <a:ext cx="45720" cy="5486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42793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RailBot 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5262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ถามได้ตลอดเส้นทาง TH/EN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937760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983480"/>
            <a:ext cx="45720" cy="5486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120" y="499262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Loyalty System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" y="52395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สะสมแต้ม → ส่วนลด / อัพเกรด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5650992"/>
            <a:ext cx="77724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cccccc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5696712"/>
            <a:ext cx="45720" cy="5486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0" name="Text 38"/>
          <p:cNvSpPr/>
          <p:nvPr/>
        </p:nvSpPr>
        <p:spPr>
          <a:xfrm>
            <a:off x="566928" y="5742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🚉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60120" y="570585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Station Map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0120" y="595274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SVG Map + คำนวณเวลาเดิน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778240" y="1188720"/>
            <a:ext cx="2743200" cy="5303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1A3F6F"/>
            </a:solidFill>
            <a:prstDash val="solid"/>
          </a:ln>
          <a:effectLst>
            <a:outerShdw sx="100000" sy="100000" kx="0" ky="0" algn="bl" rotWithShape="0" blurRad="101600" dist="38100" dir="16200000">
              <a:srgbClr val="1a3f6f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55548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1A3F6F"/>
          </a:solidFill>
          <a:ln/>
        </p:spPr>
      </p:sp>
      <p:sp>
        <p:nvSpPr>
          <p:cNvPr id="45" name="Shape 43"/>
          <p:cNvSpPr/>
          <p:nvPr/>
        </p:nvSpPr>
        <p:spPr>
          <a:xfrm>
            <a:off x="8942832" y="1554480"/>
            <a:ext cx="2414016" cy="365760"/>
          </a:xfrm>
          <a:prstGeom prst="roundRect">
            <a:avLst>
              <a:gd name="adj" fmla="val 20000"/>
            </a:avLst>
          </a:prstGeom>
          <a:solidFill>
            <a:srgbClr val="1A3F6F"/>
          </a:solidFill>
          <a:ln/>
        </p:spPr>
      </p:sp>
      <p:sp>
        <p:nvSpPr>
          <p:cNvPr id="46" name="Text 44"/>
          <p:cNvSpPr/>
          <p:nvPr/>
        </p:nvSpPr>
        <p:spPr>
          <a:xfrm>
            <a:off x="8942832" y="1554480"/>
            <a:ext cx="2414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🚂 SWT — Smart Tourism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942832" y="2057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4FB"/>
          </a:solidFill>
          <a:ln/>
        </p:spPr>
      </p:sp>
      <p:sp>
        <p:nvSpPr>
          <p:cNvPr id="48" name="Text 46"/>
          <p:cNvSpPr/>
          <p:nvPr/>
        </p:nvSpPr>
        <p:spPr>
          <a:xfrm>
            <a:off x="8942832" y="20574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🎫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897112" y="235915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จองตั๋ว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9509760" y="2057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4FB"/>
          </a:solidFill>
          <a:ln/>
        </p:spPr>
      </p:sp>
      <p:sp>
        <p:nvSpPr>
          <p:cNvPr id="51" name="Text 49"/>
          <p:cNvSpPr/>
          <p:nvPr/>
        </p:nvSpPr>
        <p:spPr>
          <a:xfrm>
            <a:off x="9509760" y="20574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464040" y="235915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ตาราง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0076688" y="2057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4FB"/>
          </a:solidFill>
          <a:ln/>
        </p:spPr>
      </p:sp>
      <p:sp>
        <p:nvSpPr>
          <p:cNvPr id="54" name="Text 52"/>
          <p:cNvSpPr/>
          <p:nvPr/>
        </p:nvSpPr>
        <p:spPr>
          <a:xfrm>
            <a:off x="10076688" y="20574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🏖️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030968" y="235915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ทัวร์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10643616" y="20574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EF4FB"/>
          </a:solidFill>
          <a:ln/>
        </p:spPr>
      </p:sp>
      <p:sp>
        <p:nvSpPr>
          <p:cNvPr id="57" name="Text 55"/>
          <p:cNvSpPr/>
          <p:nvPr/>
        </p:nvSpPr>
        <p:spPr>
          <a:xfrm>
            <a:off x="10643616" y="20574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0597896" y="235915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รางวัล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8942832" y="2697480"/>
            <a:ext cx="2414016" cy="640080"/>
          </a:xfrm>
          <a:prstGeom prst="roundRect">
            <a:avLst>
              <a:gd name="adj" fmla="val 8571"/>
            </a:avLst>
          </a:prstGeom>
          <a:solidFill>
            <a:srgbClr val="F8F9FB"/>
          </a:solidFill>
          <a:ln/>
        </p:spPr>
      </p:sp>
      <p:sp>
        <p:nvSpPr>
          <p:cNvPr id="60" name="Shape 58"/>
          <p:cNvSpPr/>
          <p:nvPr/>
        </p:nvSpPr>
        <p:spPr>
          <a:xfrm>
            <a:off x="8942832" y="2743200"/>
            <a:ext cx="36576" cy="548640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1" name="Text 59"/>
          <p:cNvSpPr/>
          <p:nvPr/>
        </p:nvSpPr>
        <p:spPr>
          <a:xfrm>
            <a:off x="9052560" y="26974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🔀 กรุงเทพ → เชียงใหม่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052560" y="297180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ด่วนพิเศษ #9 · ฿941 · 34 ที่ว่าง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942832" y="3474720"/>
            <a:ext cx="2414016" cy="640080"/>
          </a:xfrm>
          <a:prstGeom prst="roundRect">
            <a:avLst>
              <a:gd name="adj" fmla="val 8571"/>
            </a:avLst>
          </a:prstGeom>
          <a:solidFill>
            <a:srgbClr val="F8F9FB"/>
          </a:solidFill>
          <a:ln/>
        </p:spPr>
      </p:sp>
      <p:sp>
        <p:nvSpPr>
          <p:cNvPr id="64" name="Shape 62"/>
          <p:cNvSpPr/>
          <p:nvPr/>
        </p:nvSpPr>
        <p:spPr>
          <a:xfrm>
            <a:off x="8942832" y="3520440"/>
            <a:ext cx="36576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5" name="Text 63"/>
          <p:cNvSpPr/>
          <p:nvPr/>
        </p:nvSpPr>
        <p:spPr>
          <a:xfrm>
            <a:off x="9052560" y="347472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🏖️ ทัวร์หัวหิน — 1 วัน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052560" y="374904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฿890 · ⭐ 4.8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942832" y="4251960"/>
            <a:ext cx="2414016" cy="640080"/>
          </a:xfrm>
          <a:prstGeom prst="roundRect">
            <a:avLst>
              <a:gd name="adj" fmla="val 8571"/>
            </a:avLst>
          </a:prstGeom>
          <a:solidFill>
            <a:srgbClr val="F8F9FB"/>
          </a:solidFill>
          <a:ln/>
        </p:spPr>
      </p:sp>
      <p:sp>
        <p:nvSpPr>
          <p:cNvPr id="68" name="Shape 66"/>
          <p:cNvSpPr/>
          <p:nvPr/>
        </p:nvSpPr>
        <p:spPr>
          <a:xfrm>
            <a:off x="8942832" y="4297680"/>
            <a:ext cx="36576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9" name="Text 67"/>
          <p:cNvSpPr/>
          <p:nvPr/>
        </p:nvSpPr>
        <p:spPr>
          <a:xfrm>
            <a:off x="9052560" y="425196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🤖 RailBot พร้อมช่วยเหลือ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9052560" y="45262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ถามตาราง โปรโมชัน ทัวร์ 24 ชม.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942832" y="51206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0F2F5"/>
          </a:solidFill>
          <a:ln/>
        </p:spPr>
      </p:sp>
      <p:sp>
        <p:nvSpPr>
          <p:cNvPr id="72" name="Text 70"/>
          <p:cNvSpPr/>
          <p:nvPr/>
        </p:nvSpPr>
        <p:spPr>
          <a:xfrm>
            <a:off x="8942832" y="5120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🚉 แผนที่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9738360" y="51206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0F2F5"/>
          </a:solidFill>
          <a:ln/>
        </p:spPr>
      </p:sp>
      <p:sp>
        <p:nvSpPr>
          <p:cNvPr id="74" name="Text 72"/>
          <p:cNvSpPr/>
          <p:nvPr/>
        </p:nvSpPr>
        <p:spPr>
          <a:xfrm>
            <a:off x="9738360" y="5120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📊 สถิติ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10533888" y="512064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0F2F5"/>
          </a:solidFill>
          <a:ln/>
        </p:spPr>
      </p:sp>
      <p:sp>
        <p:nvSpPr>
          <p:cNvPr id="76" name="Text 74"/>
          <p:cNvSpPr/>
          <p:nvPr/>
        </p:nvSpPr>
        <p:spPr>
          <a:xfrm>
            <a:off x="10533888" y="5120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🔔 แจ้งเตือน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Smart Routing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4974336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4974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เส้นทางอัจฉริยะ + เชื่อมต่ออัตโนมัติ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ค้นหาเส้นทางรถไฟทั้งตรงและเชื่อมต่อ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ระบบคำนวณเส้นทางที่ดีที่สุดผ่าน Junction Hub โดยอัตโนมัติ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76856"/>
            <a:ext cx="4572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เส้นทางตรง + เชื่อมต่อผ่าน Hub (หาดใหญ่, ทุ่งสง, บ้านภาชี)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16936"/>
            <a:ext cx="45720" cy="429768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แสดงเวลารอต่อรถที่จุดเปลี่ยนขบวน (Connection Time)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57016"/>
            <a:ext cx="45720" cy="4297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เปรียบเทียบราคา + เวลาเดินทางทุกเส้นทางที่เป็นไปได้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97096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2062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แสดงแผนที่เส้นทางพร้อมจุดจอดทั้งหมด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D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❌ ปัจจุบัน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ต้องค้นหาจุดต่อเองทีละสาย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5074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7472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SWT Platform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ระบบแนะนำเชื่อมต่ออัตโนมัติ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188720"/>
            <a:ext cx="3200400" cy="5303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1750">
            <a:solidFill>
              <a:srgbClr val="1A3F6F"/>
            </a:solidFill>
            <a:prstDash val="solid"/>
          </a:ln>
          <a:effectLst>
            <a:outerShdw sx="100000" sy="100000" kx="0" ky="0" algn="bl" rotWithShape="0" blurRad="101600" dist="38100" dir="16200000">
              <a:srgbClr val="1a3f6f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1A3F6F"/>
          </a:solidFill>
          <a:ln/>
        </p:spPr>
      </p:sp>
      <p:sp>
        <p:nvSpPr>
          <p:cNvPr id="32" name="Shape 30"/>
          <p:cNvSpPr/>
          <p:nvPr/>
        </p:nvSpPr>
        <p:spPr>
          <a:xfrm>
            <a:off x="7022592" y="1554480"/>
            <a:ext cx="2871216" cy="365760"/>
          </a:xfrm>
          <a:prstGeom prst="roundRect">
            <a:avLst>
              <a:gd name="adj" fmla="val 20000"/>
            </a:avLst>
          </a:prstGeom>
          <a:solidFill>
            <a:srgbClr val="2E74B5"/>
          </a:solidFill>
          <a:ln/>
        </p:spPr>
      </p:sp>
      <p:sp>
        <p:nvSpPr>
          <p:cNvPr id="33" name="Text 31"/>
          <p:cNvSpPr/>
          <p:nvPr/>
        </p:nvSpPr>
        <p:spPr>
          <a:xfrm>
            <a:off x="7022592" y="155448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🔀 ค้นหาเส้นทาง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22592" y="2057400"/>
            <a:ext cx="2871216" cy="777240"/>
          </a:xfrm>
          <a:prstGeom prst="roundRect">
            <a:avLst>
              <a:gd name="adj" fmla="val 7059"/>
            </a:avLst>
          </a:prstGeom>
          <a:solidFill>
            <a:srgbClr val="EEF4FB"/>
          </a:solidFill>
          <a:ln/>
        </p:spPr>
      </p:sp>
      <p:sp>
        <p:nvSpPr>
          <p:cNvPr id="35" name="Text 33"/>
          <p:cNvSpPr/>
          <p:nvPr/>
        </p:nvSpPr>
        <p:spPr>
          <a:xfrm>
            <a:off x="7095744" y="2103120"/>
            <a:ext cx="27249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จาก: กรุงเทพ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ถึง: สุราษฎร์ธานี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วันที่: 28 ก.พ. 2569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22592" y="2971800"/>
            <a:ext cx="287121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22592" y="2999232"/>
            <a:ext cx="45720" cy="85953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0" y="3017520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🚄 ด่วนพิเศษ #39 — ตรง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24612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17:35 → 05:10 (+1)  ·  11 ชม. 35 นาที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132320" y="342900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฿642  ·  ชั้น 2 นอน  ·  ✅ 18 ที่ว่าง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132320" y="361188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7C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⏱️ ตรงเวลา 78%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022592" y="4023360"/>
            <a:ext cx="2871216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22592" y="4050792"/>
            <a:ext cx="45720" cy="104241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0" y="4069080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🔀 เชื่อมต่อผ่าน ชุมพร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32320" y="429768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#171 กรุงเทพ→ชุมพร  ·  7 ชม. 20 นาที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132320" y="44805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67E2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⏳ รอต่อรถ 1 ชม. 15 นาที ที่ชุมพร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132320" y="466344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#175 ชุมพร→สุราษฎร์ฯ  ·  2 ชม. 45 นาที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32320" y="484632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7C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฿498 รวม  ·  11 ชม. 20 นาที (รวมรอ)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022592" y="5257800"/>
            <a:ext cx="2871216" cy="594360"/>
          </a:xfrm>
          <a:prstGeom prst="roundRect">
            <a:avLst>
              <a:gd name="adj" fmla="val 9231"/>
            </a:avLst>
          </a:prstGeom>
          <a:solidFill>
            <a:srgbClr val="EEF4FB"/>
          </a:solidFill>
          <a:ln/>
        </p:spPr>
      </p:sp>
      <p:sp>
        <p:nvSpPr>
          <p:cNvPr id="50" name="Text 48"/>
          <p:cNvSpPr/>
          <p:nvPr/>
        </p:nvSpPr>
        <p:spPr>
          <a:xfrm>
            <a:off x="7095744" y="5303520"/>
            <a:ext cx="2724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🗺️ กรุงเทพ → บ้านภาชี → ชุมพร → สุราษฎร์ฯ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Availability-First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5870448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5870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รู้ที่นั่งว่างทันที — ไม่ต้องกรอกข้อมูลก่อน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เห็นสถานะ "ว่าง / เต็ม" ตั้งแต่ตอนค้นหา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เลือกที่นั่งแบบ Interactive บนแผนผังตู้โดยสาร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76856"/>
            <a:ext cx="4572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แสดงจำนวนที่ว่างทันทีตั้งแต่หน้าผลค้นหา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16936"/>
            <a:ext cx="45720" cy="429768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เลือกที่นั่ง Interactive — คลิกที่นั่งบนแผนผัง Carriage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57016"/>
            <a:ext cx="45720" cy="4297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🛏️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รถนอน: เลือกเตียงบน/ล่าง ตู้หญิง/ทั่วไป แสดงชัดเจน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97096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2062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จองได้ทันที ไม่ต้องกรอกชื่อก่อนถึงจะเห็นที่ว่าง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D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❌ ปัจจุบัน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กรอกข้อมูลก่อน → ถึงรู้ว่าเต็ม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5074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7472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SWT Platform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เห็นที่ว่างทันที → เลือก → จอง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188720"/>
            <a:ext cx="3200400" cy="5303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1750">
            <a:solidFill>
              <a:srgbClr val="1A3F6F"/>
            </a:solidFill>
            <a:prstDash val="solid"/>
          </a:ln>
          <a:effectLst>
            <a:outerShdw sx="100000" sy="100000" kx="0" ky="0" algn="bl" rotWithShape="0" blurRad="101600" dist="38100" dir="16200000">
              <a:srgbClr val="1a3f6f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1A3F6F"/>
          </a:solidFill>
          <a:ln/>
        </p:spPr>
      </p:sp>
      <p:sp>
        <p:nvSpPr>
          <p:cNvPr id="32" name="Shape 30"/>
          <p:cNvSpPr/>
          <p:nvPr/>
        </p:nvSpPr>
        <p:spPr>
          <a:xfrm>
            <a:off x="7022592" y="1554480"/>
            <a:ext cx="2871216" cy="365760"/>
          </a:xfrm>
          <a:prstGeom prst="roundRect">
            <a:avLst>
              <a:gd name="adj" fmla="val 20000"/>
            </a:avLst>
          </a:prstGeom>
          <a:solidFill>
            <a:srgbClr val="3A7CA5"/>
          </a:solidFill>
          <a:ln/>
        </p:spPr>
      </p:sp>
      <p:sp>
        <p:nvSpPr>
          <p:cNvPr id="33" name="Text 31"/>
          <p:cNvSpPr/>
          <p:nvPr/>
        </p:nvSpPr>
        <p:spPr>
          <a:xfrm>
            <a:off x="7022592" y="155448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💺 เลือกที่นั่ง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22592" y="2057400"/>
            <a:ext cx="2871216" cy="502920"/>
          </a:xfrm>
          <a:prstGeom prst="roundRect">
            <a:avLst>
              <a:gd name="adj" fmla="val 10909"/>
            </a:avLst>
          </a:prstGeom>
          <a:solidFill>
            <a:srgbClr val="EEF4FB"/>
          </a:solidFill>
          <a:ln/>
        </p:spPr>
      </p:sp>
      <p:sp>
        <p:nvSpPr>
          <p:cNvPr id="35" name="Text 33"/>
          <p:cNvSpPr/>
          <p:nvPr/>
        </p:nvSpPr>
        <p:spPr>
          <a:xfrm>
            <a:off x="7095744" y="20848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🚄 ด่วนพิเศษ #9  ·  กรุงเทพ → เชียงใหม่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ชั้น 2 นั่ง  ·  ✅ 34 ที่ว่าง จาก 72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022592" y="26517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ตู้โดยสาร: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662672" y="2633472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F8F9FB"/>
          </a:solidFill>
          <a:ln/>
        </p:spPr>
      </p:sp>
      <p:sp>
        <p:nvSpPr>
          <p:cNvPr id="38" name="Text 36"/>
          <p:cNvSpPr/>
          <p:nvPr/>
        </p:nvSpPr>
        <p:spPr>
          <a:xfrm>
            <a:off x="7662672" y="26334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11312" y="2633472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3A7CA5"/>
          </a:solidFill>
          <a:ln/>
        </p:spPr>
      </p:sp>
      <p:sp>
        <p:nvSpPr>
          <p:cNvPr id="40" name="Text 38"/>
          <p:cNvSpPr/>
          <p:nvPr/>
        </p:nvSpPr>
        <p:spPr>
          <a:xfrm>
            <a:off x="8211312" y="26334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759952" y="2633472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F8F9FB"/>
          </a:solidFill>
          <a:ln/>
        </p:spPr>
      </p:sp>
      <p:sp>
        <p:nvSpPr>
          <p:cNvPr id="42" name="Text 40"/>
          <p:cNvSpPr/>
          <p:nvPr/>
        </p:nvSpPr>
        <p:spPr>
          <a:xfrm>
            <a:off x="8759952" y="26334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308592" y="2633472"/>
            <a:ext cx="457200" cy="256032"/>
          </a:xfrm>
          <a:prstGeom prst="roundRect">
            <a:avLst>
              <a:gd name="adj" fmla="val 14286"/>
            </a:avLst>
          </a:prstGeom>
          <a:solidFill>
            <a:srgbClr val="F8F9FB"/>
          </a:solidFill>
          <a:ln/>
        </p:spPr>
      </p:sp>
      <p:sp>
        <p:nvSpPr>
          <p:cNvPr id="44" name="Text 42"/>
          <p:cNvSpPr/>
          <p:nvPr/>
        </p:nvSpPr>
        <p:spPr>
          <a:xfrm>
            <a:off x="9308592" y="26334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022592" y="3017520"/>
            <a:ext cx="2871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หน้าต่าง     ทางเดิน     หน้าต่าง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7443216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3216" y="324612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900416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0416" y="324612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631936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31936" y="324612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089136" y="32461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89136" y="324612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443216" y="3593592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43216" y="359359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900416" y="3593592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00416" y="359359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8631936" y="3593592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31936" y="359359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089136" y="3593592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89136" y="359359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7443216" y="3941064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43216" y="394106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9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900416" y="3941064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2E74B5"/>
          </a:solidFill>
          <a:ln w="6350">
            <a:solidFill>
              <a:srgbClr val="2E74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00416" y="394106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631936" y="3941064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31936" y="394106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11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9089136" y="3941064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89136" y="394106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443216" y="4288536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43216" y="428853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13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900416" y="4288536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00416" y="428853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14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631936" y="4288536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631936" y="428853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15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9089136" y="4288536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089136" y="428853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443216" y="4636008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43216" y="463600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17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900416" y="4636008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900416" y="463600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18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631936" y="4636008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31936" y="463600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19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9089136" y="4636008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089136" y="463600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20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443216" y="49834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43216" y="498348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900416" y="49834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DDDDD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00416" y="498348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22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8631936" y="49834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631936" y="498348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23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089136" y="498348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6350">
            <a:solidFill>
              <a:srgbClr val="B8DFB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089136" y="498348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24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022592" y="542239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/>
        </p:spPr>
      </p:sp>
      <p:sp>
        <p:nvSpPr>
          <p:cNvPr id="95" name="Text 93"/>
          <p:cNvSpPr/>
          <p:nvPr/>
        </p:nvSpPr>
        <p:spPr>
          <a:xfrm>
            <a:off x="7251192" y="5422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ว่าง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936992" y="542239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DDDDDD"/>
          </a:solidFill>
          <a:ln/>
        </p:spPr>
      </p:sp>
      <p:sp>
        <p:nvSpPr>
          <p:cNvPr id="97" name="Text 95"/>
          <p:cNvSpPr/>
          <p:nvPr/>
        </p:nvSpPr>
        <p:spPr>
          <a:xfrm>
            <a:off x="8165592" y="5422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ไม่ว่าง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8851392" y="5422392"/>
            <a:ext cx="182880" cy="182880"/>
          </a:xfrm>
          <a:prstGeom prst="roundRect">
            <a:avLst>
              <a:gd name="adj" fmla="val 15000"/>
            </a:avLst>
          </a:prstGeom>
          <a:solidFill>
            <a:srgbClr val="2E74B5"/>
          </a:solidFill>
          <a:ln/>
        </p:spPr>
      </p:sp>
      <p:sp>
        <p:nvSpPr>
          <p:cNvPr id="99" name="Text 97"/>
          <p:cNvSpPr/>
          <p:nvPr/>
        </p:nvSpPr>
        <p:spPr>
          <a:xfrm>
            <a:off x="9079992" y="5422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เลือกแล้ว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022592" y="5742432"/>
            <a:ext cx="2871216" cy="365760"/>
          </a:xfrm>
          <a:prstGeom prst="roundRect">
            <a:avLst>
              <a:gd name="adj" fmla="val 15000"/>
            </a:avLst>
          </a:prstGeom>
          <a:solidFill>
            <a:srgbClr val="2E74B5"/>
          </a:solidFill>
          <a:ln/>
        </p:spPr>
      </p:sp>
      <p:sp>
        <p:nvSpPr>
          <p:cNvPr id="101" name="Text 99"/>
          <p:cNvSpPr/>
          <p:nvPr/>
        </p:nvSpPr>
        <p:spPr>
          <a:xfrm>
            <a:off x="7114032" y="5742432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ที่นั่ง #10 · ริมหน้าต่าง · ฿941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ยืนยันการจอง →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Real-time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ติดตามขบวนรถแบบ Real-time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รู้ตำแหน่งจริงของขบวนรถ ความล่าช้า และสถิติตรงเวลา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วางแผนต่อได้ทันที ไม่ต้องเดาจากตารางเดิม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76856"/>
            <a:ext cx="4572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ตำแหน่งจริงของขบวนรถบนแผนที่ (GPS Tracking)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16936"/>
            <a:ext cx="45720" cy="4297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แสดงเวลาล่าช้าจริง ≠ ตารางเวลาในระบบเดิม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57016"/>
            <a:ext cx="45720" cy="429768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สถิติตรงเวลาเฉลี่ย (On-time Performance %)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97096"/>
            <a:ext cx="45720" cy="4297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2062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แจ้งเตือนเมื่อขบวนรถเข้าใกล้สถานีปลายทาง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D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❌ ปัจจุบัน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แสดงเวลาตามตารางเดิมเท่านั้น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5074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7472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SWT Platform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ตำแหน่งจริง + delay + สถิติ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188720"/>
            <a:ext cx="3200400" cy="5303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1750">
            <a:solidFill>
              <a:srgbClr val="1A3F6F"/>
            </a:solidFill>
            <a:prstDash val="solid"/>
          </a:ln>
          <a:effectLst>
            <a:outerShdw sx="100000" sy="100000" kx="0" ky="0" algn="bl" rotWithShape="0" blurRad="101600" dist="38100" dir="16200000">
              <a:srgbClr val="1a3f6f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1A3F6F"/>
          </a:solidFill>
          <a:ln/>
        </p:spPr>
      </p:sp>
      <p:sp>
        <p:nvSpPr>
          <p:cNvPr id="32" name="Shape 30"/>
          <p:cNvSpPr/>
          <p:nvPr/>
        </p:nvSpPr>
        <p:spPr>
          <a:xfrm>
            <a:off x="7022592" y="1554480"/>
            <a:ext cx="2871216" cy="365760"/>
          </a:xfrm>
          <a:prstGeom prst="roundRect">
            <a:avLst>
              <a:gd name="adj" fmla="val 20000"/>
            </a:avLst>
          </a:prstGeom>
          <a:solidFill>
            <a:srgbClr val="2E74B5"/>
          </a:solidFill>
          <a:ln/>
        </p:spPr>
      </p:sp>
      <p:sp>
        <p:nvSpPr>
          <p:cNvPr id="33" name="Text 31"/>
          <p:cNvSpPr/>
          <p:nvPr/>
        </p:nvSpPr>
        <p:spPr>
          <a:xfrm>
            <a:off x="7022592" y="155448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⏱️ สถานะขบวนรถ #9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22592" y="2057400"/>
            <a:ext cx="2871216" cy="411480"/>
          </a:xfrm>
          <a:prstGeom prst="roundRect">
            <a:avLst>
              <a:gd name="adj" fmla="val 13333"/>
            </a:avLst>
          </a:prstGeom>
          <a:solidFill>
            <a:srgbClr val="FFF3E0"/>
          </a:solidFill>
          <a:ln/>
        </p:spPr>
      </p:sp>
      <p:sp>
        <p:nvSpPr>
          <p:cNvPr id="35" name="Text 33"/>
          <p:cNvSpPr/>
          <p:nvPr/>
        </p:nvSpPr>
        <p:spPr>
          <a:xfrm>
            <a:off x="7095744" y="205740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⚠️ กำลังเดินทาง — ล่าช้า 23 นาที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87184" y="2770632"/>
            <a:ext cx="36576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7" name="Shape 35"/>
          <p:cNvSpPr/>
          <p:nvPr/>
        </p:nvSpPr>
        <p:spPr>
          <a:xfrm>
            <a:off x="7095744" y="2651760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606040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กรุงเทพ (อภิวัฒน์)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388352" y="2761488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18:10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187184" y="3246120"/>
            <a:ext cx="36576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1" name="Shape 39"/>
          <p:cNvSpPr/>
          <p:nvPr/>
        </p:nvSpPr>
        <p:spPr>
          <a:xfrm>
            <a:off x="7095744" y="3127248"/>
            <a:ext cx="219456" cy="21945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42" name="Text 40"/>
          <p:cNvSpPr/>
          <p:nvPr/>
        </p:nvSpPr>
        <p:spPr>
          <a:xfrm>
            <a:off x="7388352" y="3081528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อยุธยา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88352" y="3236976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19:25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979408" y="3099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+12 นาที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187184" y="3721608"/>
            <a:ext cx="36576" cy="4572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6" name="Shape 44"/>
          <p:cNvSpPr/>
          <p:nvPr/>
        </p:nvSpPr>
        <p:spPr>
          <a:xfrm>
            <a:off x="7095744" y="3602736"/>
            <a:ext cx="219456" cy="219456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47" name="Text 45"/>
          <p:cNvSpPr/>
          <p:nvPr/>
        </p:nvSpPr>
        <p:spPr>
          <a:xfrm>
            <a:off x="7095744" y="357530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📍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88352" y="3557016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นครสวรรค์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88352" y="3712464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21:40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9794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+23 นาที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187184" y="4197096"/>
            <a:ext cx="36576" cy="4572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2" name="Shape 50"/>
          <p:cNvSpPr/>
          <p:nvPr/>
        </p:nvSpPr>
        <p:spPr>
          <a:xfrm>
            <a:off x="7095744" y="4078224"/>
            <a:ext cx="219456" cy="21945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3" name="Text 51"/>
          <p:cNvSpPr/>
          <p:nvPr/>
        </p:nvSpPr>
        <p:spPr>
          <a:xfrm>
            <a:off x="7388352" y="4032504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พิษณุโลก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388352" y="4187952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00:15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979408" y="405079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~+25 นาที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187184" y="4672584"/>
            <a:ext cx="36576" cy="4572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7" name="Shape 55"/>
          <p:cNvSpPr/>
          <p:nvPr/>
        </p:nvSpPr>
        <p:spPr>
          <a:xfrm>
            <a:off x="7095744" y="4553712"/>
            <a:ext cx="219456" cy="21945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58" name="Text 56"/>
          <p:cNvSpPr/>
          <p:nvPr/>
        </p:nvSpPr>
        <p:spPr>
          <a:xfrm>
            <a:off x="7388352" y="4507992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ลำปาง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388352" y="4663440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04:00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095744" y="5029200"/>
            <a:ext cx="219456" cy="219456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1" name="Text 59"/>
          <p:cNvSpPr/>
          <p:nvPr/>
        </p:nvSpPr>
        <p:spPr>
          <a:xfrm>
            <a:off x="7388352" y="4983480"/>
            <a:ext cx="20482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เชียงใหม่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5138928"/>
            <a:ext cx="6400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07:15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022592" y="5532120"/>
            <a:ext cx="2871216" cy="411480"/>
          </a:xfrm>
          <a:prstGeom prst="roundRect">
            <a:avLst>
              <a:gd name="adj" fmla="val 13333"/>
            </a:avLst>
          </a:prstGeom>
          <a:solidFill>
            <a:srgbClr val="EEF4FB"/>
          </a:solidFill>
          <a:ln/>
        </p:spPr>
      </p:sp>
      <p:sp>
        <p:nvSpPr>
          <p:cNvPr id="64" name="Text 62"/>
          <p:cNvSpPr/>
          <p:nvPr/>
        </p:nvSpPr>
        <p:spPr>
          <a:xfrm>
            <a:off x="7095744" y="553212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7C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📊 ตรงเวลาเฉลี่ย: 78%  ·  ล่าช้าเฉลี่ย: 18 นาที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Tourism ในแอปเดียว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4590288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4590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ทัวร์ตามเส้นทางรถไฟ — จองได้ทันที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แพ็คเกจท่องเที่ยวตามเส้นทางรถไฟ พร้อมรายละเอียด ราคา รีวิว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จองรถไฟ + ที่พัก + กิจกรรม ในแอปเดียว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76856"/>
            <a:ext cx="4572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🏖️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Tour Packages ตามเส้นทาง — หัวหิน, แคว, เชียงใหม่ ฯลฯ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16936"/>
            <a:ext cx="45720" cy="4297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ราคาชัดเจน + รายละเอียดว่าได้อะไรบ้าง + รีวิวจริง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57016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จองตั๋ว + ทัวร์ในขั้นตอนเดียว ไม่ต้องสลับแอป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97096"/>
            <a:ext cx="45720" cy="429768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2062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สถานที่ท่องเที่ยวตามสถานี — กดดูได้ตลอดเส้นทาง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D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❌ ปัจจุบัน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ทัวร์ราคาสูง ไม่แสดงรายละเอียด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5074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7472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SWT Platform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ทัวร์ราคาดี + รีวิว + จองทันที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188720"/>
            <a:ext cx="3200400" cy="5303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1750">
            <a:solidFill>
              <a:srgbClr val="1A3F6F"/>
            </a:solidFill>
            <a:prstDash val="solid"/>
          </a:ln>
          <a:effectLst>
            <a:outerShdw sx="100000" sy="100000" kx="0" ky="0" algn="bl" rotWithShape="0" blurRad="101600" dist="38100" dir="16200000">
              <a:srgbClr val="1a3f6f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1A3F6F"/>
          </a:solidFill>
          <a:ln/>
        </p:spPr>
      </p:sp>
      <p:sp>
        <p:nvSpPr>
          <p:cNvPr id="32" name="Shape 30"/>
          <p:cNvSpPr/>
          <p:nvPr/>
        </p:nvSpPr>
        <p:spPr>
          <a:xfrm>
            <a:off x="7022592" y="1554480"/>
            <a:ext cx="2871216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33" name="Text 31"/>
          <p:cNvSpPr/>
          <p:nvPr/>
        </p:nvSpPr>
        <p:spPr>
          <a:xfrm>
            <a:off x="7022592" y="155448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🏖️ ทัวร์แนะนำ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22592" y="2057400"/>
            <a:ext cx="287121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22592" y="2084832"/>
            <a:ext cx="45720" cy="99669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0" y="2103120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🏖️ หัวหิน — วันเดียวเที่ยวได้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32320" y="233172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กรุงเทพ → หัวหิน · ตลาดโต้รุ่ง · เขาตะเกียบ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132320" y="2514600"/>
            <a:ext cx="157916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7C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 วัน  ·  ⭐ 4.8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8887968" y="249631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E67E22"/>
          </a:solidFill>
          <a:ln/>
        </p:spPr>
      </p:sp>
      <p:sp>
        <p:nvSpPr>
          <p:cNvPr id="40" name="Text 38"/>
          <p:cNvSpPr/>
          <p:nvPr/>
        </p:nvSpPr>
        <p:spPr>
          <a:xfrm>
            <a:off x="8887968" y="2496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฿890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32320" y="2807208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ดูรายละเอียด + จอง →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022592" y="3246120"/>
            <a:ext cx="287121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22592" y="3273552"/>
            <a:ext cx="45720" cy="996696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0" y="3291840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🌉 สะพานข้ามแม่น้ำแคว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32320" y="352044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กรุงเทพ → น้ำตก · Death Railway · ถ้ำกระแซ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132320" y="3703320"/>
            <a:ext cx="157916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7C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 วัน 1 คืน  ·  ⭐ 4.9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887968" y="368503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E74B5"/>
          </a:solidFill>
          <a:ln/>
        </p:spPr>
      </p:sp>
      <p:sp>
        <p:nvSpPr>
          <p:cNvPr id="48" name="Text 46"/>
          <p:cNvSpPr/>
          <p:nvPr/>
        </p:nvSpPr>
        <p:spPr>
          <a:xfrm>
            <a:off x="8887968" y="3685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฿2,490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32320" y="3995928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ดูรายละเอียด + จอง →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022592" y="4434840"/>
            <a:ext cx="287121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22592" y="4462272"/>
            <a:ext cx="45720" cy="9966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2" name="Text 50"/>
          <p:cNvSpPr/>
          <p:nvPr/>
        </p:nvSpPr>
        <p:spPr>
          <a:xfrm>
            <a:off x="7132320" y="4480560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🏔️ สายเหนือ — เชียงใหม่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132320" y="47091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กรุงเทพ → เชียงใหม่ · ดอยสุเทพ · อุโมงค์ขุนตาน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132320" y="4892040"/>
            <a:ext cx="157916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7C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 วัน 2 คืน  ·  ⭐ 4.7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887968" y="487375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56" name="Text 54"/>
          <p:cNvSpPr/>
          <p:nvPr/>
        </p:nvSpPr>
        <p:spPr>
          <a:xfrm>
            <a:off x="8887968" y="48737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฿3,790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132320" y="5184648"/>
            <a:ext cx="26883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ดูรายละเอียด + จอง →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022592" y="5669280"/>
            <a:ext cx="2871216" cy="320040"/>
          </a:xfrm>
          <a:prstGeom prst="roundRect">
            <a:avLst>
              <a:gd name="adj" fmla="val 17143"/>
            </a:avLst>
          </a:prstGeom>
          <a:solidFill>
            <a:srgbClr val="EEF4FB"/>
          </a:solidFill>
          <a:ln/>
        </p:spPr>
      </p:sp>
      <p:sp>
        <p:nvSpPr>
          <p:cNvPr id="59" name="Text 57"/>
          <p:cNvSpPr/>
          <p:nvPr/>
        </p:nvSpPr>
        <p:spPr>
          <a:xfrm>
            <a:off x="7095744" y="5669280"/>
            <a:ext cx="2724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📌 รวมตั๋วรถไฟ + ที่พัก + กิจกรรม ในราคาเดียว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RailBot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3950208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ผู้ช่วย AI ตลอดเส้นทาง TH/EN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Chatbot ตอบคำถามทันที ทั้งตาราง โปรโมชัน ทัวร์ สถานี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รองรับภาษาไทยและอังกฤษ พร้อม Voice ในอนาคต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76856"/>
            <a:ext cx="4572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ถามได้ทุกเรื่อง — ตาราง, ที่นั่งว่าง, ทัวร์, สถานี, โปรโมชัน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16936"/>
            <a:ext cx="45720" cy="429768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รองรับ TH/EN — นักท่องเที่ยวต่างชาติใช้ได้ทันที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57016"/>
            <a:ext cx="45720" cy="4297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Context-Aware — รู้ว่าผู้ใช้อยู่สถานีไหน กำลังนั่งขบวนอะไร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97096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🎫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2062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สั่งจองตั๋ว ทัวร์ ผ่านแชทได้เลย ไม่ต้องสลับหน้า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D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❌ ปัจจุบัน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โทร 1690 เท่านั้น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5074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7472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SWT Platform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AI ตอบทันที 24 ชม. TH/EN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188720"/>
            <a:ext cx="3200400" cy="5303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1750">
            <a:solidFill>
              <a:srgbClr val="1A3F6F"/>
            </a:solidFill>
            <a:prstDash val="solid"/>
          </a:ln>
          <a:effectLst>
            <a:outerShdw sx="100000" sy="100000" kx="0" ky="0" algn="bl" rotWithShape="0" blurRad="101600" dist="38100" dir="16200000">
              <a:srgbClr val="1a3f6f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1A3F6F"/>
          </a:solidFill>
          <a:ln/>
        </p:spPr>
      </p:sp>
      <p:sp>
        <p:nvSpPr>
          <p:cNvPr id="32" name="Shape 30"/>
          <p:cNvSpPr/>
          <p:nvPr/>
        </p:nvSpPr>
        <p:spPr>
          <a:xfrm>
            <a:off x="7022592" y="1554480"/>
            <a:ext cx="2871216" cy="365760"/>
          </a:xfrm>
          <a:prstGeom prst="roundRect">
            <a:avLst>
              <a:gd name="adj" fmla="val 20000"/>
            </a:avLst>
          </a:prstGeom>
          <a:solidFill>
            <a:srgbClr val="2E74B5"/>
          </a:solidFill>
          <a:ln/>
        </p:spPr>
      </p:sp>
      <p:sp>
        <p:nvSpPr>
          <p:cNvPr id="33" name="Text 31"/>
          <p:cNvSpPr/>
          <p:nvPr/>
        </p:nvSpPr>
        <p:spPr>
          <a:xfrm>
            <a:off x="7022592" y="155448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🤖 RailBot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22592" y="2057400"/>
            <a:ext cx="2526670" cy="530352"/>
          </a:xfrm>
          <a:prstGeom prst="roundRect">
            <a:avLst>
              <a:gd name="adj" fmla="val 13793"/>
            </a:avLst>
          </a:prstGeom>
          <a:solidFill>
            <a:srgbClr val="EEF4FB"/>
          </a:solidFill>
          <a:ln/>
        </p:spPr>
      </p:sp>
      <p:sp>
        <p:nvSpPr>
          <p:cNvPr id="35" name="Text 33"/>
          <p:cNvSpPr/>
          <p:nvPr/>
        </p:nvSpPr>
        <p:spPr>
          <a:xfrm>
            <a:off x="7095744" y="2084832"/>
            <a:ext cx="238036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สวัสดีค่ะ! ฉันคือ RailBot 🚂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ถามอะไรก็ได้เลยค่ะ — ตาราง ทัวร์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โปรโมชัน หรือนำทางในสถานี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67138" y="2679192"/>
            <a:ext cx="2526670" cy="292608"/>
          </a:xfrm>
          <a:prstGeom prst="roundRect">
            <a:avLst>
              <a:gd name="adj" fmla="val 25000"/>
            </a:avLst>
          </a:prstGeom>
          <a:solidFill>
            <a:srgbClr val="1A3F6F"/>
          </a:solidFill>
          <a:ln/>
        </p:spPr>
      </p:sp>
      <p:sp>
        <p:nvSpPr>
          <p:cNvPr id="37" name="Text 35"/>
          <p:cNvSpPr/>
          <p:nvPr/>
        </p:nvSpPr>
        <p:spPr>
          <a:xfrm>
            <a:off x="7440290" y="2679192"/>
            <a:ext cx="23803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ขบวน #9 ไปเชียงใหม่ตรงเวลาไหม?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022592" y="3063240"/>
            <a:ext cx="2526670" cy="640080"/>
          </a:xfrm>
          <a:prstGeom prst="roundRect">
            <a:avLst>
              <a:gd name="adj" fmla="val 11429"/>
            </a:avLst>
          </a:prstGeom>
          <a:solidFill>
            <a:srgbClr val="EEF4FB"/>
          </a:solidFill>
          <a:ln/>
        </p:spPr>
      </p:sp>
      <p:sp>
        <p:nvSpPr>
          <p:cNvPr id="39" name="Text 37"/>
          <p:cNvSpPr/>
          <p:nvPr/>
        </p:nvSpPr>
        <p:spPr>
          <a:xfrm>
            <a:off x="7095744" y="3090672"/>
            <a:ext cx="238036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📍 ขบวน #9 กำลังเดินทาง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⏱️ ล่าช้า 12 นาที (ผ่านนครสวรรค์)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📊 เฉลี่ยตรงเวลา 85%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คาดถึงเชียงใหม่ 07:27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367138" y="3813048"/>
            <a:ext cx="2526670" cy="292608"/>
          </a:xfrm>
          <a:prstGeom prst="roundRect">
            <a:avLst>
              <a:gd name="adj" fmla="val 25000"/>
            </a:avLst>
          </a:prstGeom>
          <a:solidFill>
            <a:srgbClr val="1A3F6F"/>
          </a:solidFill>
          <a:ln/>
        </p:spPr>
      </p:sp>
      <p:sp>
        <p:nvSpPr>
          <p:cNvPr id="41" name="Text 39"/>
          <p:cNvSpPr/>
          <p:nvPr/>
        </p:nvSpPr>
        <p:spPr>
          <a:xfrm>
            <a:off x="7440290" y="3813048"/>
            <a:ext cx="238036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มีทัวร์ที่เชียงใหม่ไหม?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022592" y="4197096"/>
            <a:ext cx="2526670" cy="868680"/>
          </a:xfrm>
          <a:prstGeom prst="roundRect">
            <a:avLst>
              <a:gd name="adj" fmla="val 8421"/>
            </a:avLst>
          </a:prstGeom>
          <a:solidFill>
            <a:srgbClr val="EEF4FB"/>
          </a:solidFill>
          <a:ln/>
        </p:spPr>
      </p:sp>
      <p:sp>
        <p:nvSpPr>
          <p:cNvPr id="43" name="Text 41"/>
          <p:cNvSpPr/>
          <p:nvPr/>
        </p:nvSpPr>
        <p:spPr>
          <a:xfrm>
            <a:off x="7095744" y="4224528"/>
            <a:ext cx="238036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🏔️ มีค่ะ!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1. สายเหนือ 3 วัน — ฿3,790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ดอยสุเทพ + อุโมงค์ขุนตาน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2. เชียงใหม่ 1 Day — ฿1,290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   วัดพระธาตุ + ถนนคนเดิน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จะจองเลยไหมคะ? 😊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022592" y="5212080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EEF4FB"/>
          </a:solidFill>
          <a:ln w="6350">
            <a:solidFill>
              <a:srgbClr val="2E74B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22592" y="5212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จองเลย!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936992" y="5212080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EEF4FB"/>
          </a:solidFill>
          <a:ln w="6350">
            <a:solidFill>
              <a:srgbClr val="2E74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36992" y="5212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ดูเพิ่ม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851392" y="5212080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EEF4FB"/>
          </a:solidFill>
          <a:ln w="6350">
            <a:solidFill>
              <a:srgbClr val="2E74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51392" y="521208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ถามอื่น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022592" y="5577840"/>
            <a:ext cx="2871216" cy="320040"/>
          </a:xfrm>
          <a:prstGeom prst="roundRect">
            <a:avLst>
              <a:gd name="adj" fmla="val 42857"/>
            </a:avLst>
          </a:prstGeom>
          <a:solidFill>
            <a:srgbClr val="F0F2F5"/>
          </a:solidFill>
          <a:ln/>
        </p:spPr>
      </p:sp>
      <p:sp>
        <p:nvSpPr>
          <p:cNvPr id="51" name="Text 49"/>
          <p:cNvSpPr/>
          <p:nvPr/>
        </p:nvSpPr>
        <p:spPr>
          <a:xfrm>
            <a:off x="7114032" y="5577840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พิมพ์ข้อความ...  🎤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Loyalty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5102352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5102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สะสมแต้ม → ส่วนลด · อัพเกรด · ตั๋วฟรี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ระบบสะสมแต้มจากการใช้บริการรถไฟ ทุก ฿10 = 1 แต้ม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แลกส่วนลด อัพเกรดที่นั่ง หรือตั๋วฟรี เพิ่มแรงจูงใจกลับมาใช้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76856"/>
            <a:ext cx="45720" cy="429768"/>
          </a:xfrm>
          <a:prstGeom prst="rect">
            <a:avLst/>
          </a:prstGeom>
          <a:solidFill>
            <a:srgbClr val="C5973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สะสมแต้ม ฿10 = 1 pt ทุกการจอง — ยิ่งใช้ยิ่งได้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16936"/>
            <a:ext cx="4572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🎖️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Tier: Bronze → Silver → Gold → Platinum สิทธิ์เพิ่มตาม level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57016"/>
            <a:ext cx="45720" cy="4297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แลกส่วนลดตั๋ว อัพเกรดที่นั่ง ตั๋วฟรี คูปองร้านค้าในสถานี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97096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2062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 แสดงแต้มสะสม ประวัติ รางวัลที่แลกได้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D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❌ ปัจจุบัน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ไม่มีระบบ Loyalty เลย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5074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7472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SWT Platform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Tier + แต้ม + รางวัล = กลับมาใช้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1188720"/>
            <a:ext cx="3200400" cy="53035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1750">
            <a:solidFill>
              <a:srgbClr val="1A3F6F"/>
            </a:solidFill>
            <a:prstDash val="solid"/>
          </a:ln>
          <a:effectLst>
            <a:outerShdw sx="100000" sy="100000" kx="0" ky="0" algn="bl" rotWithShape="0" blurRad="101600" dist="38100" dir="16200000">
              <a:srgbClr val="1a3f6f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0" y="118872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1A3F6F"/>
          </a:solidFill>
          <a:ln/>
        </p:spPr>
      </p:sp>
      <p:sp>
        <p:nvSpPr>
          <p:cNvPr id="32" name="Shape 30"/>
          <p:cNvSpPr/>
          <p:nvPr/>
        </p:nvSpPr>
        <p:spPr>
          <a:xfrm>
            <a:off x="7022592" y="1554480"/>
            <a:ext cx="2871216" cy="365760"/>
          </a:xfrm>
          <a:prstGeom prst="roundRect">
            <a:avLst>
              <a:gd name="adj" fmla="val 20000"/>
            </a:avLst>
          </a:prstGeom>
          <a:solidFill>
            <a:srgbClr val="C5973E"/>
          </a:solidFill>
          <a:ln/>
        </p:spPr>
      </p:sp>
      <p:sp>
        <p:nvSpPr>
          <p:cNvPr id="33" name="Text 31"/>
          <p:cNvSpPr/>
          <p:nvPr/>
        </p:nvSpPr>
        <p:spPr>
          <a:xfrm>
            <a:off x="7022592" y="1554480"/>
            <a:ext cx="2871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🏆 My Rewards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22592" y="2057400"/>
            <a:ext cx="2871216" cy="777240"/>
          </a:xfrm>
          <a:prstGeom prst="roundRect">
            <a:avLst>
              <a:gd name="adj" fmla="val 9412"/>
            </a:avLst>
          </a:prstGeom>
          <a:solidFill>
            <a:srgbClr val="FDF6E3"/>
          </a:solidFill>
          <a:ln w="12700">
            <a:solidFill>
              <a:srgbClr val="C597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571232" y="2103120"/>
            <a:ext cx="2231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73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Gold Member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71232" y="2377440"/>
            <a:ext cx="2231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2,450 แต้ม  ·  อีก 550 ถึง Platinum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571232" y="2587752"/>
            <a:ext cx="2231136" cy="109728"/>
          </a:xfrm>
          <a:prstGeom prst="roundRect">
            <a:avLst>
              <a:gd name="adj" fmla="val 33333"/>
            </a:avLst>
          </a:prstGeom>
          <a:solidFill>
            <a:srgbClr val="E8EBEF"/>
          </a:solidFill>
          <a:ln/>
        </p:spPr>
      </p:sp>
      <p:sp>
        <p:nvSpPr>
          <p:cNvPr id="39" name="Shape 37"/>
          <p:cNvSpPr/>
          <p:nvPr/>
        </p:nvSpPr>
        <p:spPr>
          <a:xfrm>
            <a:off x="7571232" y="2587752"/>
            <a:ext cx="1829532" cy="109728"/>
          </a:xfrm>
          <a:prstGeom prst="roundRect">
            <a:avLst>
              <a:gd name="adj" fmla="val 33333"/>
            </a:avLst>
          </a:prstGeom>
          <a:solidFill>
            <a:srgbClr val="C5973E"/>
          </a:solidFill>
          <a:ln/>
        </p:spPr>
      </p:sp>
      <p:sp>
        <p:nvSpPr>
          <p:cNvPr id="40" name="Shape 38"/>
          <p:cNvSpPr/>
          <p:nvPr/>
        </p:nvSpPr>
        <p:spPr>
          <a:xfrm>
            <a:off x="7022592" y="3017520"/>
            <a:ext cx="2871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2E74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22592" y="3054096"/>
            <a:ext cx="4572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🎫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25512" y="306324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ส่วนลด ฿100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525512" y="3264408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500 pt · ตั๋วทุกเส้นทาง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253728" y="312724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2E74B5"/>
          </a:solidFill>
          <a:ln/>
        </p:spPr>
      </p:sp>
      <p:sp>
        <p:nvSpPr>
          <p:cNvPr id="46" name="Text 44"/>
          <p:cNvSpPr/>
          <p:nvPr/>
        </p:nvSpPr>
        <p:spPr>
          <a:xfrm>
            <a:off x="9253728" y="31272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แลก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022592" y="3611880"/>
            <a:ext cx="2871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3A7CA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22592" y="3648456"/>
            <a:ext cx="45720" cy="429768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49" name="Text 47"/>
          <p:cNvSpPr/>
          <p:nvPr/>
        </p:nvSpPr>
        <p:spPr>
          <a:xfrm>
            <a:off x="71323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💺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25512" y="365760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อัพเกรดที่นั่ง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525512" y="3858768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1,000 pt · ชั้น 2 → ชั้น 1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9253728" y="372160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3A7CA5"/>
          </a:solidFill>
          <a:ln/>
        </p:spPr>
      </p:sp>
      <p:sp>
        <p:nvSpPr>
          <p:cNvPr id="53" name="Text 51"/>
          <p:cNvSpPr/>
          <p:nvPr/>
        </p:nvSpPr>
        <p:spPr>
          <a:xfrm>
            <a:off x="9253728" y="37216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แลก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022592" y="4206240"/>
            <a:ext cx="2871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22592" y="4242816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6" name="Text 54"/>
          <p:cNvSpPr/>
          <p:nvPr/>
        </p:nvSpPr>
        <p:spPr>
          <a:xfrm>
            <a:off x="713232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🆓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25512" y="425196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ตั๋วฟรี 1 ใบ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525512" y="4453128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2,000 pt · เส้นทางสั้น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253728" y="431596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/>
        </p:spPr>
      </p:sp>
      <p:sp>
        <p:nvSpPr>
          <p:cNvPr id="60" name="Text 58"/>
          <p:cNvSpPr/>
          <p:nvPr/>
        </p:nvSpPr>
        <p:spPr>
          <a:xfrm>
            <a:off x="9253728" y="43159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แลก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022592" y="4800600"/>
            <a:ext cx="2871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22592" y="4837176"/>
            <a:ext cx="45720" cy="4297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3" name="Text 61"/>
          <p:cNvSpPr/>
          <p:nvPr/>
        </p:nvSpPr>
        <p:spPr>
          <a:xfrm>
            <a:off x="713232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☕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25512" y="4846320"/>
            <a:ext cx="16824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คูปองร้านกาแฟ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7525512" y="5047488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 200 pt · ร้านค้าในสถานี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9253728" y="491032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67E22"/>
          </a:solidFill>
          <a:ln/>
        </p:spPr>
      </p:sp>
      <p:sp>
        <p:nvSpPr>
          <p:cNvPr id="67" name="Text 65"/>
          <p:cNvSpPr/>
          <p:nvPr/>
        </p:nvSpPr>
        <p:spPr>
          <a:xfrm>
            <a:off x="9253728" y="49103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แลก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022592" y="5440680"/>
            <a:ext cx="2871216" cy="502920"/>
          </a:xfrm>
          <a:prstGeom prst="roundRect">
            <a:avLst>
              <a:gd name="adj" fmla="val 10909"/>
            </a:avLst>
          </a:prstGeom>
          <a:solidFill>
            <a:srgbClr val="EEF4FB"/>
          </a:solidFill>
          <a:ln/>
        </p:spPr>
      </p:sp>
      <p:sp>
        <p:nvSpPr>
          <p:cNvPr id="69" name="Text 67"/>
          <p:cNvSpPr/>
          <p:nvPr/>
        </p:nvSpPr>
        <p:spPr>
          <a:xfrm>
            <a:off x="7095744" y="5458968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📋 ล่าสุด: +94 pt จากตั๋ว กรุงเทพ→เชียงใหม่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🎉 ยินดีด้วย! เหลืออีก 550 pt ถึง Platinum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Station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4334256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4334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แผนที่สถานี Interactive + นำทาง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แผนที่สถานีแบบ SVG แสดงชานชาลา ร้านค้า ห้องน้ำ ทางออก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พร้อมคำนวณเวลาเดินและนำทางแบบ Step-by-Step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76856"/>
            <a:ext cx="45720" cy="42976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2860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SVG Map แสดงชานชาลา ร้านค้า ห้องน้ำ ทางออก ครบ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16936"/>
            <a:ext cx="45720" cy="429768"/>
          </a:xfrm>
          <a:prstGeom prst="rect">
            <a:avLst/>
          </a:prstGeom>
          <a:solidFill>
            <a:srgbClr val="3A7CA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คำนวณเวลาเดินจากจุด A → B ภายในสถานี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57016"/>
            <a:ext cx="45720" cy="42976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ค้นหาร้านค้า/บริการ — กดแล้วนำทางไปจุดนั้นเลย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5120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ddddd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197096"/>
            <a:ext cx="45720" cy="42976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20624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ใช้ได้ทั้งบนมือถือและ Kiosk หน้าสถานี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FDE8E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❌ ปัจจุบัน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0392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ไม่มีแผนที่สถานีเลย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50749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A7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474720" y="502920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5074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SWT Platform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AE6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Interactive Map + นำทาง + เวลาเดิน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0" y="1188720"/>
            <a:ext cx="53035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CCCCCC"/>
            </a:solidFill>
            <a:prstDash val="solid"/>
          </a:ln>
          <a:effectLst>
            <a:outerShdw sx="100000" sy="100000" kx="0" ky="0" algn="bl" rotWithShape="0" blurRad="63500" dist="25400" dir="16200000">
              <a:srgbClr val="999999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9944" y="1197864"/>
            <a:ext cx="5285232" cy="320040"/>
          </a:xfrm>
          <a:prstGeom prst="rect">
            <a:avLst/>
          </a:prstGeom>
          <a:solidFill>
            <a:srgbClr val="E8EBEF"/>
          </a:solidFill>
          <a:ln/>
        </p:spPr>
      </p:sp>
      <p:sp>
        <p:nvSpPr>
          <p:cNvPr id="32" name="Shape 30"/>
          <p:cNvSpPr/>
          <p:nvPr/>
        </p:nvSpPr>
        <p:spPr>
          <a:xfrm>
            <a:off x="6510528" y="128016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3" name="Shape 31"/>
          <p:cNvSpPr/>
          <p:nvPr/>
        </p:nvSpPr>
        <p:spPr>
          <a:xfrm>
            <a:off x="6675120" y="1280160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4" name="Shape 32"/>
          <p:cNvSpPr/>
          <p:nvPr/>
        </p:nvSpPr>
        <p:spPr>
          <a:xfrm>
            <a:off x="6839712" y="128016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5" name="Shape 33"/>
          <p:cNvSpPr/>
          <p:nvPr/>
        </p:nvSpPr>
        <p:spPr>
          <a:xfrm>
            <a:off x="7040880" y="1252728"/>
            <a:ext cx="43891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25272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🚉 สถานีกรุงเทพอภิวัฒน์ — Station Map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492240" y="1554480"/>
            <a:ext cx="5120640" cy="292608"/>
          </a:xfrm>
          <a:prstGeom prst="rect">
            <a:avLst/>
          </a:prstGeom>
          <a:solidFill>
            <a:srgbClr val="1A3F6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0" y="15544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🚉 สถานีกรุงเทพอภิวัฒน์   |   🔍 ค้นหา: ห้องน้ำ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66560" y="19659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E8F0FE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23317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โถงกลาง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E74B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(Main Hall)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875520" y="19659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66960" y="19659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67E22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🚂 ชานชาลา 1 ★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9875520" y="246888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66960" y="2468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🚂 ชานชาลา 2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875520" y="297180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6696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🚂 ชานชาลา 3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858000" y="2011680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3A7CA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85432" y="2011680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🚻 ห้องน้ำ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858000" y="2880360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85432" y="2880360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☕ ร้านกาแฟ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686800" y="2011680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714232" y="2011680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🏪 ร้านสะดวกซื้อ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8686800" y="2880360"/>
            <a:ext cx="7315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14232" y="2880360"/>
            <a:ext cx="6766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🚪 ทางออก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6492240" y="352044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3A7C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83680" y="3547872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🚶 นำทางไป: ห้องน้ำ (ชั้น 1 ฝั่งเหนือ)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583680" y="37947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7CA5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ระยะทาง: 120 ม.  ·  เวลาเดิน: ~2 นาที  ·  📍 ตรงไป → เลี้ยวขวา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492240" y="4160520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🟦 โถง   🟧 ชานชาลาของคุณ   🚻 สิ่งอำนวยความสะดวก   🔴 ทางออก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สิ่งที่ต้องการจาก รฟท.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4974336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4974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พร้อมพัฒนา vs ต้องการข้อมูลเพิ่มเติม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แต่ละฟีเจอร์ต้องการข้อมูลหรือการสนับสนุนจาก รฟท. ต่างกัน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ตารางนี้แสดงสิ่งที่พร้อมพัฒนาทันที และสิ่งที่ต้องการความร่วมมือ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3657600"/>
                <a:gridCol w="43251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ฟีเจอร์</a:t>
                      </a:r>
                      <a:endParaRPr lang="en-US" sz="11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สถานะความพร้อม</a:t>
                      </a:r>
                      <a:endParaRPr lang="en-US" sz="11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8E6C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ฝั่งแพลตฟอร์มทำได้</a:t>
                      </a:r>
                      <a:endParaRPr lang="en-US" sz="11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CCBC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ต้องการจาก รฟท.</a:t>
                      </a:r>
                      <a:endParaRPr lang="en-US" sz="11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🤖 RailBot AI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✅ พร้อมพัฒนา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LLM + NLP + Knowledge Base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รองรับ TH/EN + Voice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FAQ / ข้อมูลโปรโมชัน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(nice to have — ไม่จำเป็นต้องรอ)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📌 Tourism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✅ พร้อมพัฒนา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CMS จัดการ Tour Packages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จอง + ราคา + รีวิว ในแอป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ข้อมูลสถานที่ท่องเที่ยวริมเส้นทาง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(มีบนเว็บ รฟท. อยู่แล้ว)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🔀 Smart Routing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E67E22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⚡ ต้องการข้อมูล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Routing Algorithm + UI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คำนวณเส้นทางเชื่อมต่ออัตโนมัติ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📋 ตารางเดินรถ (Timetable Data)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สถานีจอด + เวลา + Junction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🚉 Station Map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E67E22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⚡ ต้องการข้อมูล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SVG Rendering + Navigation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คำนวณเวลาเดิน + ค้นหา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📋 แผนผังสถานี (Floor Plan)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ตำแหน่งร้านค้า ห้องน้ำ ชานชาลา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🎫 Availability-First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🔗 ต้องเชื่อมต่อระบบ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Seat Map UI + Interactive Selection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แสดงผลทันทีตั้งแต่ค้นหา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🔑 API ข้อมูลที่นั่งว่าง/เต็ม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จาก D-Ticket (ปัจจุบันไม่มี Public API)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⏱️ Real-time Status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🔗 ต้องเชื่อมต่อระบบ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Tracking UI + สถิติตรงเวลา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แจ้งเตือนเมื่อใกล้ถึงสถานี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🔑 GPS Tracking Data จากตัวรถ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+ ข้อมูล delay ย้อนหลัง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🏆 Loyalty System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🔗 ต้องเชื่อมต่อระบบ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Point Tracking + Reward Catalog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Tier System + Dashboard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🔑 ข้อตกลงธุรกิจ (ใครจ่ายส่วนลด?)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950" dirty="0">
                          <a:solidFill>
                            <a:srgbClr val="5A6A7A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+ API เชื่อม D-Ticket สำหรับ Redeem</a:t>
                      </a:r>
                      <a:endParaRPr lang="en-US" sz="95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172200"/>
            <a:ext cx="11274552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✅ พร้อมพัฒนาทันที     ⚡ ต้องการข้อมูล (ขอแล้วเริ่มได้)     🔗 ต้องเชื่อมต่อระบบ รฟท. (ต้องเจรจา API / ข้อตกลง)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เปรียบเทียบ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4718304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4718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Enhancing the Passenger Experience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11 / 12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487375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ความต้องการ</a:t>
                      </a:r>
                      <a:endParaRPr lang="en-US" sz="11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0C4DE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สถานการณ์ปัจจุบัน</a:t>
                      </a:r>
                      <a:endParaRPr lang="en-US" sz="11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8E6C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แพลตฟอร์ม SWT ✦</a:t>
                      </a:r>
                      <a:endParaRPr lang="en-US" sz="11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🔀 ค้นหาเส้นทาง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99A4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เลือกได้เฉพาะเส้นทางตรง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Smart Routing + เชื่อมต่อผ่าน hub อัตโนมัติ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⚡ ความเร็วแสดงผล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99A4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โหลดช้าในช่วงผู้ใช้หนาแน่น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Edge Computing — แสดงผลเร็วสม่ำเสมอ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💺 สถานะที่นั่ง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99A4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กรอกข้อมูลก่อนถึงจะรู้ว่าว่าง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Availability-First — รู้ทันทีตั้งแต่ค้นหา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⏱️ สถานะขบวนรถ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99A4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อ้างอิงตามตารางเวลาหลัก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อ้างอิงตำแหน่งจริง (Real-time Tracking)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📌 ข้อมูลท่องเที่ยว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99A4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มีทัวร์จัดเฉพาะ แต่ราคาสูง ขาดรายละเอียด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Tour Packages ตามเส้นทาง พร้อมราคา/รีวิว จองในแอป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📱 ช่วยเหลือระหว่างทาง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99A4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โทรสายด่วน 1690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AI Chatbot (RailBot) ตอบทันที TH/EN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🏆 แรงจูงใจกลับมาใช้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99A4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ไม่มีระบบ Loyalty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Gold → Platinum + แต้มสะสม + คูปอง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🚉 นำทางในสถานี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99A4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ไม่มีแผนที่สถานี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Interactive Map + คำนวณระยะทาง/เวลาเดิน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3F6F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📊 ข้อมูลผู้บริหาร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99A4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ไม่มี Analytics Dashboard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E74B5"/>
                          </a:solidFill>
                          <a:latin typeface="Prompt" pitchFamily="34" charset="0"/>
                          <a:ea typeface="Prompt" pitchFamily="34" charset="-122"/>
                          <a:cs typeface="Prompt" pitchFamily="34" charset="-120"/>
                        </a:rPr>
                        <a:t>Stats Dashboard — Booking / Revenue / Heatmap</a:t>
                      </a:r>
                      <a:endParaRPr lang="en-US" sz="1000" dirty="0">
                        <a:latin typeface="Prompt" charset="0"/>
                        <a:ea typeface="Prompt" charset="0"/>
                        <a:cs typeface="Prompt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B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✦ SWT — Smart Tourism Platform สำหรับการรถไฟแห่งประเทศไทย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502920"/>
          </a:xfrm>
          <a:prstGeom prst="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868680"/>
            <a:ext cx="2286000" cy="320040"/>
          </a:xfrm>
          <a:prstGeom prst="roundRect">
            <a:avLst>
              <a:gd name="adj" fmla="val 11429"/>
            </a:avLst>
          </a:prstGeom>
          <a:solidFill>
            <a:srgbClr val="1A3F6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68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ทดลองใช้งานจริง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11091672" y="0"/>
            <a:ext cx="1097280" cy="1097280"/>
          </a:xfrm>
          <a:prstGeom prst="rtTriangl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12 / 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383280" cy="45720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371600"/>
            <a:ext cx="3291840" cy="54864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164592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8F9FB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1645920"/>
            <a:ext cx="822960" cy="137160"/>
          </a:xfrm>
          <a:prstGeom prst="roundRect">
            <a:avLst>
              <a:gd name="adj" fmla="val 33333"/>
            </a:avLst>
          </a:prstGeom>
          <a:solidFill>
            <a:srgbClr val="DDDDDD"/>
          </a:solidFill>
          <a:ln/>
        </p:spPr>
      </p:sp>
      <p:sp>
        <p:nvSpPr>
          <p:cNvPr id="12" name="Shape 10"/>
          <p:cNvSpPr/>
          <p:nvPr/>
        </p:nvSpPr>
        <p:spPr>
          <a:xfrm>
            <a:off x="1508760" y="18745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2E74B5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1874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🌐 Web Platform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Web Platform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เว็บไซต์หลัก — จองตั๋ว ตาราง ทัวร์ Reward แผนที่สถานี</a:t>
            </a:r>
            <a:endParaRPr lang="en-US" sz="1000" dirty="0"/>
          </a:p>
        </p:txBody>
      </p:sp>
      <p:sp>
        <p:nvSpPr>
          <p:cNvPr id="16" name="Text 14">
            <a:hlinkClick r:id="rId1" tooltip=""/>
          </p:cNvPr>
          <p:cNvSpPr/>
          <p:nvPr/>
        </p:nvSpPr>
        <p:spPr>
          <a:xfrm>
            <a:off x="822960" y="5074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thai-rail-web-repo.vercel.app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71600" y="53949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1371600" y="5394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เปิดเว็บ 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1371600"/>
            <a:ext cx="3383280" cy="45720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1371600"/>
            <a:ext cx="32918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5166360" y="164592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8F9FB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1645920"/>
            <a:ext cx="822960" cy="137160"/>
          </a:xfrm>
          <a:prstGeom prst="roundRect">
            <a:avLst>
              <a:gd name="adj" fmla="val 33333"/>
            </a:avLst>
          </a:prstGeom>
          <a:solidFill>
            <a:srgbClr val="DDDDDD"/>
          </a:solidFill>
          <a:ln/>
        </p:spPr>
      </p:sp>
      <p:sp>
        <p:nvSpPr>
          <p:cNvPr id="23" name="Shape 21"/>
          <p:cNvSpPr/>
          <p:nvPr/>
        </p:nvSpPr>
        <p:spPr>
          <a:xfrm>
            <a:off x="5257800" y="18745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5257800" y="1874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📱 Mobile App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แอปมือถือ — ออกแบบสำหรับใช้งานระหว่างเดินทาง พร้อม AI Chat</a:t>
            </a:r>
            <a:endParaRPr lang="en-US" sz="1000" dirty="0"/>
          </a:p>
        </p:txBody>
      </p:sp>
      <p:sp>
        <p:nvSpPr>
          <p:cNvPr id="27" name="Text 25">
            <a:hlinkClick r:id="rId3" tooltip=""/>
          </p:cNvPr>
          <p:cNvSpPr/>
          <p:nvPr/>
        </p:nvSpPr>
        <p:spPr>
          <a:xfrm>
            <a:off x="4572000" y="5074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swt-mobile.vercel.app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120640" y="53949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29" name="Text 27">
            <a:hlinkClick r:id="rId4" tooltip=""/>
          </p:cNvPr>
          <p:cNvSpPr/>
          <p:nvPr/>
        </p:nvSpPr>
        <p:spPr>
          <a:xfrm>
            <a:off x="5120640" y="5394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เปิดแอป 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1371600"/>
            <a:ext cx="3383280" cy="45720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16200000">
              <a:srgbClr val="cccccc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1371600"/>
            <a:ext cx="329184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Shape 30"/>
          <p:cNvSpPr/>
          <p:nvPr/>
        </p:nvSpPr>
        <p:spPr>
          <a:xfrm>
            <a:off x="8915400" y="164592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F8F9FB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18320" y="1645920"/>
            <a:ext cx="822960" cy="137160"/>
          </a:xfrm>
          <a:prstGeom prst="roundRect">
            <a:avLst>
              <a:gd name="adj" fmla="val 33333"/>
            </a:avLst>
          </a:prstGeom>
          <a:solidFill>
            <a:srgbClr val="DDDDDD"/>
          </a:solidFill>
          <a:ln/>
        </p:spPr>
      </p:sp>
      <p:sp>
        <p:nvSpPr>
          <p:cNvPr id="34" name="Shape 32"/>
          <p:cNvSpPr/>
          <p:nvPr/>
        </p:nvSpPr>
        <p:spPr>
          <a:xfrm>
            <a:off x="9006840" y="187452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9006840" y="18745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📊 Stats Dashboard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13816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F6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Stats Dashboard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21040" y="46634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Dashboard สำหรับผู้บริหาร — Booking Revenue Heatmap Satisfaction</a:t>
            </a:r>
            <a:endParaRPr lang="en-US" sz="1000" dirty="0"/>
          </a:p>
        </p:txBody>
      </p:sp>
      <p:sp>
        <p:nvSpPr>
          <p:cNvPr id="38" name="Text 36">
            <a:hlinkClick r:id="rId5" tooltip=""/>
          </p:cNvPr>
          <p:cNvSpPr/>
          <p:nvPr/>
        </p:nvSpPr>
        <p:spPr>
          <a:xfrm>
            <a:off x="8321040" y="5074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8E99A4"/>
                </a:solidFill>
                <a:latin typeface="Prompt" pitchFamily="34" charset="0"/>
                <a:ea typeface="Prompt" pitchFamily="34" charset="-122"/>
                <a:cs typeface="Prompt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srt-stats.vercel.app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869680" y="53949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/>
        </p:spPr>
      </p:sp>
      <p:sp>
        <p:nvSpPr>
          <p:cNvPr id="40" name="Text 38">
            <a:hlinkClick r:id="rId6" tooltip=""/>
          </p:cNvPr>
          <p:cNvSpPr/>
          <p:nvPr/>
        </p:nvSpPr>
        <p:spPr>
          <a:xfrm>
            <a:off x="8869680" y="5394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เปิด Dashboard →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NDF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SWT Mobile Web App</dc:subject>
  <dc:creator>NDF</dc:creator>
  <cp:lastModifiedBy>NDF</cp:lastModifiedBy>
  <cp:revision>1</cp:revision>
  <dcterms:created xsi:type="dcterms:W3CDTF">2026-02-24T16:48:26Z</dcterms:created>
  <dcterms:modified xsi:type="dcterms:W3CDTF">2026-02-24T16:48:26Z</dcterms:modified>
</cp:coreProperties>
</file>