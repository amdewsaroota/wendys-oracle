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ahoma"/>
              </a:defRPr>
            </a:pPr>
            <a:r>
              <a:t>Core Dashboard — Mockup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C100"/>
                </a:solidFill>
                <a:latin typeface="Tahoma"/>
              </a:defRPr>
            </a:pPr>
            <a:r>
              <a:t>สำหรับทีม Vibe Code  |  Dark theme  |  Control Center style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645920" cy="5394960"/>
          </a:xfrm>
          <a:prstGeom prst="roundRect">
            <a:avLst/>
          </a:prstGeom>
          <a:solidFill>
            <a:srgbClr val="121222"/>
          </a:solidFill>
          <a:ln w="1905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C100"/>
                </a:solidFill>
                <a:latin typeface="Tahoma"/>
              </a:defRPr>
            </a:pPr>
            <a:r>
              <a:t>SWT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Tahoma"/>
              </a:defRPr>
            </a:pPr>
            <a:r>
              <a:t>Core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1371600" cy="347472"/>
          </a:xfrm>
          <a:prstGeom prst="roundRect">
            <a:avLst/>
          </a:prstGeom>
          <a:solidFill>
            <a:srgbClr val="2A2500"/>
          </a:solidFill>
          <a:ln w="127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C100"/>
                </a:solidFill>
                <a:latin typeface="Tahoma"/>
              </a:defRPr>
            </a:pPr>
            <a: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Kiosk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Tahoma"/>
              </a:defRPr>
            </a:pPr>
            <a:r>
              <a:t>Settings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1097280"/>
            <a:ext cx="9784080" cy="502920"/>
          </a:xfrm>
          <a:prstGeom prst="roundRect">
            <a:avLst/>
          </a:prstGeom>
          <a:solidFill>
            <a:srgbClr val="121222"/>
          </a:solidFill>
          <a:ln w="1905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Tahoma"/>
              </a:defRPr>
            </a:pPr>
            <a:r>
              <a:t>สถานีกลางบางซื่อ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Tahoma"/>
              </a:defRPr>
            </a:pPr>
            <a:r>
              <a:t>16 ก.พ. 2569  |  ผู้จัดการก้อง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1783080"/>
            <a:ext cx="182880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5C100"/>
                </a:solidFill>
                <a:latin typeface="Tahoma"/>
              </a:defRPr>
            </a:pPr>
            <a:r>
              <a:t>2,340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DC3C7"/>
                </a:solidFill>
                <a:latin typeface="Tahoma"/>
              </a:defRPr>
            </a:pPr>
            <a:r>
              <a:t>คนในสถานี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514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Tahoma"/>
              </a:defRPr>
            </a:pPr>
            <a:r>
              <a:t>real-time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6" y="1783080"/>
            <a:ext cx="182880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9936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  <a:latin typeface="Tahoma"/>
              </a:defRPr>
            </a:pPr>
            <a:r>
              <a:t>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9936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DC3C7"/>
                </a:solidFill>
                <a:latin typeface="Tahoma"/>
              </a:defRPr>
            </a:pPr>
            <a:r>
              <a:t>เที่ยวรถไฟวันนี้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9936" y="2514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Tahoma"/>
              </a:defRPr>
            </a:pPr>
            <a:r>
              <a:t>จาก SRT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16752" y="1783080"/>
            <a:ext cx="182880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6752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DC3C7"/>
                </a:solidFill>
                <a:latin typeface="Tahoma"/>
              </a:defRPr>
            </a:pPr>
            <a:r>
              <a:t>แจ้งเหตุรอจัดการ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2514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Tahoma"/>
              </a:defRPr>
            </a:pPr>
            <a:r>
              <a:t>urgent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3568" y="1783080"/>
            <a:ext cx="182880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Tahoma"/>
              </a:defRPr>
            </a:pPr>
            <a:r>
              <a:t>18/25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DC3C7"/>
                </a:solidFill>
                <a:latin typeface="Tahoma"/>
              </a:defRPr>
            </a:pPr>
            <a:r>
              <a:t>บูทเปิด/ทั้งหมด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2514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Tahoma"/>
              </a:defRPr>
            </a:pPr>
            <a:r>
              <a:t>72%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0384" y="1783080"/>
            <a:ext cx="182880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0384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  <a:latin typeface="Tahoma"/>
              </a:defRPr>
            </a:pPr>
            <a:r>
              <a:t>1,205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DC3C7"/>
                </a:solidFill>
                <a:latin typeface="Tahoma"/>
              </a:defRPr>
            </a:pPr>
            <a:r>
              <a:t>ผู้ใช้ App วันนี้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514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Tahoma"/>
              </a:defRPr>
            </a:pPr>
            <a:r>
              <a:t>+12%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03120" y="2971800"/>
            <a:ext cx="5669280" cy="283464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402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C100"/>
                </a:solidFill>
                <a:latin typeface="Tahoma"/>
              </a:defRPr>
            </a:pPr>
            <a:r>
              <a:t>Heatmap สถานี (Live)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Tahoma"/>
              </a:defRPr>
            </a:pPr>
            <a:r>
              <a:t>ตอนนี้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77440" y="3520440"/>
            <a:ext cx="1645920" cy="914400"/>
          </a:xfrm>
          <a:prstGeom prst="roundRect">
            <a:avLst/>
          </a:prstGeom>
          <a:solidFill>
            <a:srgbClr val="673342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Tahoma"/>
              </a:defRPr>
            </a:pPr>
            <a:r>
              <a:t>ชานชาลา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4206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74C3C"/>
                </a:solidFill>
                <a:latin typeface="Tahoma"/>
              </a:defRPr>
            </a:pPr>
            <a:r>
              <a:t>สูง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3520440"/>
            <a:ext cx="1463040" cy="914400"/>
          </a:xfrm>
          <a:prstGeom prst="roundRect">
            <a:avLst/>
          </a:prstGeom>
          <a:solidFill>
            <a:srgbClr val="6B4E34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3611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Tahoma"/>
              </a:defRPr>
            </a:pPr>
            <a:r>
              <a:t>โถงกลาง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2062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39C12"/>
                </a:solidFill>
                <a:latin typeface="Tahoma"/>
              </a:defRPr>
            </a:pPr>
            <a:r>
              <a:t>ปานกลาง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52159" y="3520440"/>
            <a:ext cx="1645920" cy="914400"/>
          </a:xfrm>
          <a:prstGeom prst="roundRect">
            <a:avLst/>
          </a:prstGeom>
          <a:solidFill>
            <a:srgbClr val="27544E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59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Tahoma"/>
              </a:defRPr>
            </a:pPr>
            <a:r>
              <a:t>ชานชาลา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59" y="4206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7AE60"/>
                </a:solidFill>
                <a:latin typeface="Tahoma"/>
              </a:defRPr>
            </a:pPr>
            <a:r>
              <a:t>ต่ำ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77440" y="4617720"/>
            <a:ext cx="2286000" cy="822960"/>
          </a:xfrm>
          <a:prstGeom prst="roundRect">
            <a:avLst/>
          </a:prstGeom>
          <a:solidFill>
            <a:srgbClr val="6B4E34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7744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Tahoma"/>
              </a:defRPr>
            </a:pPr>
            <a:r>
              <a:t>ร้านค้าโซน 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0" y="52120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39C12"/>
                </a:solidFill>
                <a:latin typeface="Tahoma"/>
              </a:defRPr>
            </a:pPr>
            <a:r>
              <a:t>ปานกลาง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46320" y="4617720"/>
            <a:ext cx="2651760" cy="822960"/>
          </a:xfrm>
          <a:prstGeom prst="roundRect">
            <a:avLst/>
          </a:prstGeom>
          <a:solidFill>
            <a:srgbClr val="27544E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47091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Tahoma"/>
              </a:defRPr>
            </a:pPr>
            <a:r>
              <a:t>ร้านค้าโซน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6320" y="521208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7AE60"/>
                </a:solidFill>
                <a:latin typeface="Tahoma"/>
              </a:defRPr>
            </a:pPr>
            <a:r>
              <a:t>ต่ำ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01000" y="2971800"/>
            <a:ext cx="3886200" cy="2834640"/>
          </a:xfrm>
          <a:prstGeom prst="roundRect">
            <a:avLst/>
          </a:prstGeom>
          <a:solidFill>
            <a:srgbClr val="16162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Tahoma"/>
              </a:defRPr>
            </a:pPr>
            <a:r>
              <a:t>แจ้งเหตุล่าสุด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3474720"/>
            <a:ext cx="137160" cy="137160"/>
          </a:xfrm>
          <a:prstGeom prst="roundRect">
            <a:avLst/>
          </a:prstGeom>
          <a:solidFill>
            <a:srgbClr val="E74C3C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60" y="3429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Tahoma"/>
              </a:defRPr>
            </a:pPr>
            <a:r>
              <a:t>ผู้โดยสารหายของ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3630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Tahoma"/>
              </a:defRPr>
            </a:pPr>
            <a:r>
              <a:t>ชานชาลา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27080" y="347472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Tahoma"/>
              </a:defRPr>
            </a:pPr>
            <a:r>
              <a:t>5 นาที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3913632"/>
            <a:ext cx="137160" cy="137160"/>
          </a:xfrm>
          <a:prstGeom prst="roundRect">
            <a:avLst/>
          </a:prstGeom>
          <a:solidFill>
            <a:srgbClr val="F39C12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66760" y="3867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Tahoma"/>
              </a:defRPr>
            </a:pPr>
            <a:r>
              <a:t>Kiosk #7 ไม่ตอบสนอง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40690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Tahoma"/>
              </a:defRPr>
            </a:pPr>
            <a:r>
              <a:t>โถงกลาง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27080" y="39136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Tahoma"/>
              </a:defRPr>
            </a:pPr>
            <a:r>
              <a:t>12 นาที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38160" y="4352544"/>
            <a:ext cx="137160" cy="137160"/>
          </a:xfrm>
          <a:prstGeom prst="roundRect">
            <a:avLst/>
          </a:prstGeom>
          <a:solidFill>
            <a:srgbClr val="F39C12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66760" y="43068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Tahoma"/>
              </a:defRPr>
            </a:pPr>
            <a:r>
              <a:t>ผู้โดยสารเป็นลม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60" y="450799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Tahoma"/>
              </a:defRPr>
            </a:pPr>
            <a:r>
              <a:t>ทางออก 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27080" y="435254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Tahoma"/>
              </a:defRPr>
            </a:pPr>
            <a:r>
              <a:t>28 นาที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38160" y="4791456"/>
            <a:ext cx="137160" cy="137160"/>
          </a:xfrm>
          <a:prstGeom prst="roundRect">
            <a:avLst/>
          </a:prstGeom>
          <a:solidFill>
            <a:srgbClr val="27AE60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66760" y="47457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Tahoma"/>
              </a:defRPr>
            </a:pPr>
            <a:r>
              <a:t>รถไฟสาย X กลับมาปกติ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49469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Tahoma"/>
              </a:defRPr>
            </a:pPr>
            <a: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27080" y="479145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Tahoma"/>
              </a:defRPr>
            </a:pPr>
            <a:r>
              <a:t>1 ชม.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38160" y="5230368"/>
            <a:ext cx="137160" cy="137160"/>
          </a:xfrm>
          <a:prstGeom prst="roundRect">
            <a:avLst/>
          </a:prstGeom>
          <a:solidFill>
            <a:srgbClr val="7F8C8D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66760" y="51846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Tahoma"/>
              </a:defRPr>
            </a:pPr>
            <a:r>
              <a:t>ไฟโซน C กระพริบ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5385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Tahoma"/>
              </a:defRPr>
            </a:pPr>
            <a:r>
              <a:t>ร้านค้า 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27080" y="5230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Tahoma"/>
              </a:defRPr>
            </a:pPr>
            <a:r>
              <a:t>2 ชม.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103120" y="5989320"/>
            <a:ext cx="9784080" cy="502920"/>
          </a:xfrm>
          <a:prstGeom prst="roundRect">
            <a:avLst/>
          </a:prstGeom>
          <a:solidFill>
            <a:srgbClr val="16162A"/>
          </a:solidFill>
          <a:ln w="1905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4028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DC3C7"/>
                </a:solidFill>
                <a:latin typeface="Tahoma"/>
              </a:defRPr>
            </a:pPr>
            <a:r>
              <a:t>สถานะ Kiosk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0" y="6080760"/>
            <a:ext cx="640080" cy="274320"/>
          </a:xfrm>
          <a:prstGeom prst="roundRect">
            <a:avLst/>
          </a:prstGeom>
          <a:solidFill>
            <a:srgbClr val="29444D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0" y="6099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AE60"/>
                </a:solidFill>
                <a:latin typeface="Tahoma"/>
              </a:defRPr>
            </a:pPr>
            <a:r>
              <a:t>#1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892040" y="6080760"/>
            <a:ext cx="640080" cy="274320"/>
          </a:xfrm>
          <a:prstGeom prst="roundRect">
            <a:avLst/>
          </a:prstGeom>
          <a:solidFill>
            <a:srgbClr val="29444D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92040" y="6099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AE60"/>
                </a:solidFill>
                <a:latin typeface="Tahoma"/>
              </a:defRPr>
            </a:pPr>
            <a:r>
              <a:t>#2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69280" y="6080760"/>
            <a:ext cx="640080" cy="274320"/>
          </a:xfrm>
          <a:prstGeom prst="roundRect">
            <a:avLst/>
          </a:prstGeom>
          <a:solidFill>
            <a:srgbClr val="29444D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69280" y="6099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AE60"/>
                </a:solidFill>
                <a:latin typeface="Tahoma"/>
              </a:defRPr>
            </a:pPr>
            <a:r>
              <a:t>#3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46520" y="6080760"/>
            <a:ext cx="640080" cy="274320"/>
          </a:xfrm>
          <a:prstGeom prst="roundRect">
            <a:avLst/>
          </a:prstGeom>
          <a:solidFill>
            <a:srgbClr val="29444D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46520" y="6099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AE60"/>
                </a:solidFill>
                <a:latin typeface="Tahoma"/>
              </a:defRPr>
            </a:pPr>
            <a:r>
              <a:t>#4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23760" y="6080760"/>
            <a:ext cx="640080" cy="274320"/>
          </a:xfrm>
          <a:prstGeom prst="roundRect">
            <a:avLst/>
          </a:prstGeom>
          <a:solidFill>
            <a:srgbClr val="52413D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23760" y="6099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39C12"/>
                </a:solidFill>
                <a:latin typeface="Tahoma"/>
              </a:defRPr>
            </a:pPr>
            <a:r>
              <a:t>#5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001000" y="6080760"/>
            <a:ext cx="640080" cy="274320"/>
          </a:xfrm>
          <a:prstGeom prst="roundRect">
            <a:avLst/>
          </a:prstGeom>
          <a:solidFill>
            <a:srgbClr val="29444D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01000" y="6099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AE60"/>
                </a:solidFill>
                <a:latin typeface="Tahoma"/>
              </a:defRPr>
            </a:pPr>
            <a:r>
              <a:t>#6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78240" y="6080760"/>
            <a:ext cx="640080" cy="274320"/>
          </a:xfrm>
          <a:prstGeom prst="roundRect">
            <a:avLst/>
          </a:prstGeom>
          <a:solidFill>
            <a:srgbClr val="503146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78240" y="6099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74C3C"/>
                </a:solidFill>
                <a:latin typeface="Tahoma"/>
              </a:defRPr>
            </a:pPr>
            <a:r>
              <a:t>#7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555480" y="6080760"/>
            <a:ext cx="640080" cy="274320"/>
          </a:xfrm>
          <a:prstGeom prst="roundRect">
            <a:avLst/>
          </a:prstGeom>
          <a:solidFill>
            <a:srgbClr val="29444D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55480" y="6099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AE60"/>
                </a:solidFill>
                <a:latin typeface="Tahoma"/>
              </a:defRPr>
            </a:pPr>
            <a:r>
              <a:t>#8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332720" y="6080760"/>
            <a:ext cx="640080" cy="274320"/>
          </a:xfrm>
          <a:prstGeom prst="roundRect">
            <a:avLst/>
          </a:prstGeom>
          <a:solidFill>
            <a:srgbClr val="29444D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332720" y="6099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AE60"/>
                </a:solidFill>
                <a:latin typeface="Tahoma"/>
              </a:defRPr>
            </a:pPr>
            <a:r>
              <a:t>#9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109960" y="6080760"/>
            <a:ext cx="640080" cy="274320"/>
          </a:xfrm>
          <a:prstGeom prst="roundRect">
            <a:avLst/>
          </a:prstGeom>
          <a:solidFill>
            <a:srgbClr val="29444D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109960" y="6099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AE60"/>
                </a:solidFill>
                <a:latin typeface="Tahoma"/>
              </a:defRPr>
            </a:pPr>
            <a:r>
              <a:t>#10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ahoma"/>
              </a:defRPr>
            </a:pPr>
            <a:r>
              <a:t>Design Specs — สำหรับทีมพัฒนา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C100"/>
                </a:solidFill>
                <a:latin typeface="Tahoma"/>
              </a:defRPr>
            </a:pPr>
            <a:r>
              <a:t>สี  |  Layout  |  Component  |  หลักคิด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Tahoma"/>
              </a:defRPr>
            </a:pPr>
            <a:r>
              <a:t>Color Palette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65760" cy="36576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ahoma"/>
              </a:defRPr>
            </a:pPr>
            <a:r>
              <a:t>#1A1A2E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Tahoma"/>
              </a:defRPr>
            </a:pPr>
            <a:r>
              <a:t>Background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645920"/>
            <a:ext cx="365760" cy="365760"/>
          </a:xfrm>
          <a:prstGeom prst="roundRect">
            <a:avLst/>
          </a:prstGeom>
          <a:solidFill>
            <a:srgbClr val="121222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6420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ahoma"/>
              </a:defRPr>
            </a:pPr>
            <a:r>
              <a:t>#121222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Tahoma"/>
              </a:defRPr>
            </a:pPr>
            <a:r>
              <a:t>Sidebar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645920"/>
            <a:ext cx="365760" cy="365760"/>
          </a:xfrm>
          <a:prstGeom prst="roundRect">
            <a:avLst/>
          </a:prstGeom>
          <a:solidFill>
            <a:srgbClr val="22223A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66420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ahoma"/>
              </a:defRPr>
            </a:pPr>
            <a:r>
              <a:t>#22223A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288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Tahoma"/>
              </a:defRPr>
            </a:pPr>
            <a:r>
              <a:t>Card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94560"/>
            <a:ext cx="365760" cy="365760"/>
          </a:xfrm>
          <a:prstGeom prst="roundRect">
            <a:avLst/>
          </a:prstGeom>
          <a:solidFill>
            <a:srgbClr val="E5C100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1284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ahoma"/>
              </a:defRPr>
            </a:pPr>
            <a:r>
              <a:t>#E5C100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774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Tahoma"/>
              </a:defRPr>
            </a:pPr>
            <a:r>
              <a:t>Gold (primary)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194560"/>
            <a:ext cx="365760" cy="365760"/>
          </a:xfrm>
          <a:prstGeom prst="roundRect">
            <a:avLst/>
          </a:prstGeom>
          <a:solidFill>
            <a:srgbClr val="E74C3C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21284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ahoma"/>
              </a:defRPr>
            </a:pPr>
            <a:r>
              <a:t>#E74C3C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3774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Tahoma"/>
              </a:defRPr>
            </a:pPr>
            <a:r>
              <a:t>Red (alert)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2194560"/>
            <a:ext cx="365760" cy="365760"/>
          </a:xfrm>
          <a:prstGeom prst="roundRect">
            <a:avLst/>
          </a:prstGeom>
          <a:solidFill>
            <a:srgbClr val="F39C12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21284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ahoma"/>
              </a:defRPr>
            </a:pPr>
            <a:r>
              <a:t>#F39C12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3774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Tahoma"/>
              </a:defRPr>
            </a:pPr>
            <a:r>
              <a:t>Orange (warning)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743200"/>
            <a:ext cx="365760" cy="365760"/>
          </a:xfrm>
          <a:prstGeom prst="roundRect">
            <a:avLst/>
          </a:prstGeom>
          <a:solidFill>
            <a:srgbClr val="27AE60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7614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ahoma"/>
              </a:defRPr>
            </a:pPr>
            <a:r>
              <a:t>#27AE60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9260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Tahoma"/>
              </a:defRPr>
            </a:pPr>
            <a:r>
              <a:t>Green (ok)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2743200"/>
            <a:ext cx="365760" cy="365760"/>
          </a:xfrm>
          <a:prstGeom prst="roundRect">
            <a:avLst/>
          </a:prstGeom>
          <a:solidFill>
            <a:srgbClr val="3498DB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7614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ahoma"/>
              </a:defRPr>
            </a:pPr>
            <a:r>
              <a:t>#3498DB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9260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Tahoma"/>
              </a:defRPr>
            </a:pPr>
            <a:r>
              <a:t>Blue (info)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2743200"/>
            <a:ext cx="365760" cy="365760"/>
          </a:xfrm>
          <a:prstGeom prst="roundRect">
            <a:avLst/>
          </a:prstGeom>
          <a:solidFill>
            <a:srgbClr val="9B59B6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7614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ahoma"/>
              </a:defRPr>
            </a:pPr>
            <a:r>
              <a:t>#9B59B6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9260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Tahoma"/>
              </a:defRPr>
            </a:pPr>
            <a:r>
              <a:t>Purple (app)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Tahoma"/>
              </a:defRPr>
            </a:pPr>
            <a:r>
              <a:t>Layout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9319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Sidebar กว้าง ~200px อยู่ซ้ายตลอด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KPI Cards แถวบนสุด — เห็นตัวเลขทันที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Heatmap ครึ่งซ้าย ใหญ่ที่สุด (สำคัญสุด)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แจ้งเหตุ ครึ่งขวา เรียงตาม priority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สถานะ Kiosk แถวล่าง (secondary info)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Font: Tahoma หรือ Inter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ตัวเลข KPI ใหญ่ 28-36px / Label เล็ก 10-12px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Tahoma"/>
              </a:defRPr>
            </a:pPr>
            <a:r>
              <a:t>Components ที่ต้องทำ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3931920"/>
            <a:ext cx="137160" cy="411480"/>
          </a:xfrm>
          <a:prstGeom prst="roundRect">
            <a:avLst/>
          </a:prstGeom>
          <a:solidFill>
            <a:srgbClr val="E5C100"/>
          </a:solidFill>
          <a:ln w="63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C100"/>
                </a:solidFill>
                <a:latin typeface="Tahoma"/>
              </a:defRPr>
            </a:pPr>
            <a:r>
              <a:t>KPI Card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C7"/>
                </a:solidFill>
                <a:latin typeface="Tahoma"/>
              </a:defRPr>
            </a:pPr>
            <a:r>
              <a:t>ตัวเลข + label + subtitle  |  มีสีขอบตาม type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480559"/>
            <a:ext cx="137160" cy="411480"/>
          </a:xfrm>
          <a:prstGeom prst="roundRect">
            <a:avLst/>
          </a:prstGeom>
          <a:solidFill>
            <a:srgbClr val="27AE60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4805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Tahoma"/>
              </a:defRPr>
            </a:pPr>
            <a:r>
              <a:t>Heatmap Panel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4805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C7"/>
                </a:solidFill>
                <a:latin typeface="Tahoma"/>
              </a:defRPr>
            </a:pPr>
            <a:r>
              <a:t>Floor plan + gradient overlay  |  เปลี่ยน timeframe ได้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5029200"/>
            <a:ext cx="137160" cy="411480"/>
          </a:xfrm>
          <a:prstGeom prst="roundRect">
            <a:avLst/>
          </a:prstGeom>
          <a:solidFill>
            <a:srgbClr val="E74C3C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Tahoma"/>
              </a:defRPr>
            </a:pPr>
            <a:r>
              <a:t>Alert 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029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C7"/>
                </a:solidFill>
                <a:latin typeface="Tahoma"/>
              </a:defRPr>
            </a:pPr>
            <a:r>
              <a:t>เรียง priority สูง→ต่ำ  |  กดเพื่อดูรายละเอียด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5577840"/>
            <a:ext cx="137160" cy="411480"/>
          </a:xfrm>
          <a:prstGeom prst="roundRect">
            <a:avLst/>
          </a:prstGeom>
          <a:solidFill>
            <a:srgbClr val="3498DB"/>
          </a:solidFill>
          <a:ln w="63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98DB"/>
                </a:solidFill>
                <a:latin typeface="Tahoma"/>
              </a:defRPr>
            </a:pPr>
            <a:r>
              <a:t>Kiosk Status Bar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577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C7"/>
                </a:solidFill>
                <a:latin typeface="Tahoma"/>
              </a:defRPr>
            </a:pPr>
            <a:r>
              <a:t>แสดงสถานะทุกตู้  |  สี = online/warning/offline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0" y="6126479"/>
            <a:ext cx="137160" cy="411480"/>
          </a:xfrm>
          <a:prstGeom prst="roundRect">
            <a:avLst/>
          </a:prstGeom>
          <a:solidFill>
            <a:srgbClr val="7F8C8D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6126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8D"/>
                </a:solidFill>
                <a:latin typeface="Tahoma"/>
              </a:defRPr>
            </a:pPr>
            <a:r>
              <a:t>Sidebar Menu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61264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C7"/>
                </a:solidFill>
                <a:latin typeface="Tahoma"/>
              </a:defRPr>
            </a:pPr>
            <a:r>
              <a:t>Highlight หน้าปัจจุบัน  |  Collapsible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ahoma"/>
              </a:defRPr>
            </a:pPr>
            <a:r>
              <a:t>2 Roles — หน้าจอเดียวกัน เห็นไม่เหมือนกัน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C100"/>
                </a:solidFill>
                <a:latin typeface="Tahoma"/>
              </a:defRPr>
            </a:pPr>
            <a:r>
              <a:t>ใช้ Role &amp; Permission คุม — ไม่ต้องทำ 2 หน้าจอ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5303520"/>
          </a:xfrm>
          <a:prstGeom prst="roundRect">
            <a:avLst/>
          </a:prstGeom>
          <a:solidFill>
            <a:srgbClr val="16162A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98DB"/>
                </a:solidFill>
                <a:latin typeface="Tahoma"/>
              </a:defRPr>
            </a:pPr>
            <a:r>
              <a:t>เจ้าหน้าที่ เห็น: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Tahoma"/>
              </a:defRPr>
            </a:pPr>
            <a:r>
              <a:t>  KPI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คนในสถานี, แจ้งเหตุ, สถานะ Kiosk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Tahoma"/>
              </a:defRPr>
            </a:pPr>
            <a:r>
              <a:t>  Heatmap สถานี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ดูความหนาแน่น 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Tahoma"/>
              </a:defRPr>
            </a:pPr>
            <a:r>
              <a:t>  แจ้งเหตุล่าสุด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รับเรื่อง + จัดการ (งานหลัก)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Tahoma"/>
              </a:defRPr>
            </a:pPr>
            <a:r>
              <a:t>  สถานะ Kiosk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ตู้ไหน offline ต้องไปดู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Tahoma"/>
              </a:defRPr>
            </a:pPr>
            <a:r>
              <a:t>เข้าไม่ได้: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Tahoma"/>
              </a:defRPr>
            </a:pPr>
            <a:r>
              <a:t>  Revenue / รายได้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Tahoma"/>
              </a:defRPr>
            </a:pPr>
            <a:r>
              <a:t>  Executive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Tahoma"/>
              </a:defRPr>
            </a:pPr>
            <a:r>
              <a:t>  Export ข้อมูล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Tahoma"/>
              </a:defRPr>
            </a:pPr>
            <a:r>
              <a:t>  User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Tahoma"/>
              </a:defRPr>
            </a:pPr>
            <a:r>
              <a:t>  Role &amp; Permission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188720"/>
            <a:ext cx="5669280" cy="5303520"/>
          </a:xfrm>
          <a:prstGeom prst="roundRect">
            <a:avLst/>
          </a:prstGeom>
          <a:solidFill>
            <a:srgbClr val="16162A"/>
          </a:solidFill>
          <a:ln w="254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280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5C100"/>
                </a:solidFill>
                <a:latin typeface="Tahoma"/>
              </a:defRPr>
            </a:pPr>
            <a:r>
              <a:t>ผู้บริหาร เห็น: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Tahoma"/>
              </a:defRPr>
            </a:pPr>
            <a:r>
              <a:t>  ทุกอย่างที่เจ้าหน้าที่เห็น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C100"/>
                </a:solidFill>
                <a:latin typeface="Tahoma"/>
              </a:defRPr>
            </a:pPr>
            <a:r>
              <a:t>  Revenue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42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รายได้รวม, แยก Tier/โซน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C100"/>
                </a:solidFill>
                <a:latin typeface="Tahoma"/>
              </a:defRPr>
            </a:pPr>
            <a:r>
              <a:t>  Executive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สรุปสำหรับผู้บริหาร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C100"/>
                </a:solidFill>
                <a:latin typeface="Tahoma"/>
              </a:defRPr>
            </a:pPr>
            <a:r>
              <a:t>  Export (PDF/Excel)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ส่ง report อัตโนมัติ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C100"/>
                </a:solidFill>
                <a:latin typeface="Tahoma"/>
              </a:defRPr>
            </a:pPr>
            <a:r>
              <a:t>  User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931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จัดการ user ทั้งระบบ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C100"/>
                </a:solidFill>
                <a:latin typeface="Tahoma"/>
              </a:defRPr>
            </a:pPr>
            <a:r>
              <a:t>  Role &amp; Permission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กำหนดสิทธิ์ทุก 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C100"/>
                </a:solidFill>
                <a:latin typeface="Tahoma"/>
              </a:defRPr>
            </a:pPr>
            <a:r>
              <a:t>  Kiosk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ตั้งค่า/อัพเดท Kiosk ทุกตู้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C100"/>
                </a:solidFill>
                <a:latin typeface="Tahoma"/>
              </a:defRPr>
            </a:pPr>
            <a:r>
              <a:t>  Analytics ขั้นสูง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440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Tahoma"/>
              </a:defRPr>
            </a:pPr>
            <a:r>
              <a:t>Trend, forecast, compare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943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C100"/>
                </a:solidFill>
                <a:latin typeface="Tahoma"/>
              </a:defRPr>
            </a:pPr>
            <a:r>
              <a:t>เข้าถึงทุกเมนู ทุกฟังก์ชัน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ahoma"/>
              </a:defRPr>
            </a:pPr>
            <a:r>
              <a:t>เมนูทั้งหมดใน Core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C100"/>
                </a:solidFill>
                <a:latin typeface="Tahoma"/>
              </a:defRPr>
            </a:pPr>
            <a:r>
              <a:t>Sidebar เมนู → แต่ละหน้าทำอะไรบ้าง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749039" cy="2560320"/>
          </a:xfrm>
          <a:prstGeom prst="roundRect">
            <a:avLst/>
          </a:prstGeom>
          <a:solidFill>
            <a:srgbClr val="16162A"/>
          </a:solidFill>
          <a:ln w="254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C100"/>
                </a:solidFill>
                <a:latin typeface="Tahoma"/>
              </a:defRPr>
            </a:pPr>
            <a:r>
              <a:t>Overview — หน้าแรก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459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KPI Cards — ตัวเลขสำคัญ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Heatmap สถานี (Live)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แจ้งเหตุล่าสุด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สถานะ Kiosk ทุกตู้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749039" cy="2560320"/>
          </a:xfrm>
          <a:prstGeom prst="roundRect">
            <a:avLst/>
          </a:prstGeom>
          <a:solidFill>
            <a:srgbClr val="16162A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Tahoma"/>
              </a:defRPr>
            </a:pPr>
            <a:r>
              <a:t>Users — จัดการผู้ใช้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6459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รายชื่อ User ทั้งระบบ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เพิ่ม / ลบ / แก้ไข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Ban / Suspend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ดูประวัติการใช้งาน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749039" cy="2560320"/>
          </a:xfrm>
          <a:prstGeom prst="roundRect">
            <a:avLst/>
          </a:prstGeom>
          <a:solidFill>
            <a:srgbClr val="16162A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Tahoma"/>
              </a:defRPr>
            </a:pPr>
            <a:r>
              <a:t>Roles — จัดการสิทธิ์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สร้าง/แก้ไข Role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กำหนด Permission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ดู Audit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931920"/>
            <a:ext cx="3749039" cy="2560320"/>
          </a:xfrm>
          <a:prstGeom prst="roundRect">
            <a:avLst/>
          </a:prstGeom>
          <a:solidFill>
            <a:srgbClr val="16162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Tahoma"/>
              </a:defRPr>
            </a:pPr>
            <a:r>
              <a:t>Report — รายงาน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4805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Executive Report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Traffic Analytics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Revenue Dashboard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Export PDF / Excel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931920"/>
            <a:ext cx="3749039" cy="2560320"/>
          </a:xfrm>
          <a:prstGeom prst="roundRect">
            <a:avLst/>
          </a:prstGeom>
          <a:solidFill>
            <a:srgbClr val="16162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Tahoma"/>
              </a:defRPr>
            </a:pPr>
            <a:r>
              <a:t>Alert — แจ้งเหตุ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4805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รายการแจ้งเหตุทั้งหมด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Filter ตาม status/priority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ตอบรับ / ปิดเคส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ประวัติแจ้งเหตุ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3749039" cy="2560320"/>
          </a:xfrm>
          <a:prstGeom prst="roundRect">
            <a:avLst/>
          </a:prstGeom>
          <a:solidFill>
            <a:srgbClr val="16162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Tahoma"/>
              </a:defRPr>
            </a:pPr>
            <a:r>
              <a:t>Kiosk — จัดการ Kiosk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4805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สถานะ Kiosk ทุกตู้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ตั้งค่า / อัพเดทเนื้อหา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จัดการโฆษณา / Popup</a:t>
            </a:r>
          </a:p>
          <a:p>
            <a:pPr>
              <a:spcAft>
                <a:spcPts val="6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ดู Analytics การใช้งาน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